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6256000" cy="9144000"/>
  <p:notesSz cx="9144000" cy="16256000"/>
  <p:embeddedFontLst>
    <p:embeddedFont>
      <p:font typeface="Liter" panose="02000503030000020004" pitchFamily="34" charset="0"/>
      <p:regular r:id="rId21"/>
    </p:embeddedFont>
    <p:embeddedFont>
      <p:font typeface="Liter" panose="02000503030000020004" pitchFamily="34" charset="-122"/>
      <p:regular r:id="rId22"/>
    </p:embeddedFont>
    <p:embeddedFont>
      <p:font typeface="Liter" panose="02000503030000020004" pitchFamily="34" charset="-120"/>
      <p:regular r:id="rId23"/>
    </p:embeddedFont>
    <p:embeddedFont>
      <p:font typeface="Quattrocento Sans" panose="020B0502050000020003" pitchFamily="34" charset="0"/>
      <p:regular r:id="rId24"/>
    </p:embeddedFont>
    <p:embeddedFont>
      <p:font typeface="Quattrocento Sans" panose="020B0502050000020003" pitchFamily="34" charset="-122"/>
      <p:regular r:id="rId25"/>
    </p:embeddedFont>
    <p:embeddedFont>
      <p:font typeface="Quattrocento Sans" panose="020B0502050000020003" pitchFamily="34" charset="-120"/>
      <p:regular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0.fntdata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Machine-01</c:v>
                </c:pt>
              </c:strCache>
            </c:strRef>
          </c:tx>
          <c:spPr>
            <a:ln w="25400" cap="flat" cmpd="sng" algn="ctr">
              <a:solidFill>
                <a:srgbClr val="C8794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7941"/>
              </a:solidFill>
              <a:ln w="9525" cap="flat" cmpd="sng" algn="ctr">
                <a:solidFill>
                  <a:srgbClr val="C87941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fr-FR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08:00</c:v>
                </c:pt>
                <c:pt idx="1">
                  <c:v>09:00</c:v>
                </c:pt>
                <c:pt idx="2">
                  <c:v>10:00</c:v>
                </c:pt>
                <c:pt idx="3">
                  <c:v>11:00</c:v>
                </c:pt>
                <c:pt idx="4">
                  <c:v>12:00</c:v>
                </c:pt>
                <c:pt idx="5">
                  <c:v>13:00</c:v>
                </c:pt>
                <c:pt idx="6">
                  <c:v>14:00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</c:v>
                </c:pt>
                <c:pt idx="1">
                  <c:v>45</c:v>
                </c:pt>
                <c:pt idx="2">
                  <c:v>42</c:v>
                </c:pt>
                <c:pt idx="3">
                  <c:v>44</c:v>
                </c:pt>
                <c:pt idx="4">
                  <c:v>43</c:v>
                </c:pt>
                <c:pt idx="5">
                  <c:v>50</c:v>
                </c:pt>
                <c:pt idx="6">
                  <c:v>44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Machine-02</c:v>
                </c:pt>
              </c:strCache>
            </c:strRef>
          </c:tx>
          <c:spPr>
            <a:ln w="25400" cap="flat" cmpd="sng" algn="ctr">
              <a:solidFill>
                <a:srgbClr val="2D343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D3436"/>
              </a:solidFill>
              <a:ln w="9525" cap="flat" cmpd="sng" algn="ctr">
                <a:solidFill>
                  <a:srgbClr val="2D343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fr-FR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08:00</c:v>
                </c:pt>
                <c:pt idx="1">
                  <c:v>09:00</c:v>
                </c:pt>
                <c:pt idx="2">
                  <c:v>10:00</c:v>
                </c:pt>
                <c:pt idx="3">
                  <c:v>11:00</c:v>
                </c:pt>
                <c:pt idx="4">
                  <c:v>12:00</c:v>
                </c:pt>
                <c:pt idx="5">
                  <c:v>13:00</c:v>
                </c:pt>
                <c:pt idx="6">
                  <c:v>14:00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45</c:v>
                </c:pt>
                <c:pt idx="1">
                  <c:v>40</c:v>
                </c:pt>
                <c:pt idx="2">
                  <c:v>42</c:v>
                </c:pt>
                <c:pt idx="3">
                  <c:v>47</c:v>
                </c:pt>
                <c:pt idx="4">
                  <c:v>45</c:v>
                </c:pt>
                <c:pt idx="5">
                  <c:v>45</c:v>
                </c:pt>
                <c:pt idx="6">
                  <c:v>48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Machine-03</c:v>
                </c:pt>
              </c:strCache>
            </c:strRef>
          </c:tx>
          <c:spPr>
            <a:ln w="25400" cap="flat" cmpd="sng" algn="ctr">
              <a:solidFill>
                <a:srgbClr val="636E7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36E72"/>
              </a:solidFill>
              <a:ln w="9525" cap="flat" cmpd="sng" algn="ctr">
                <a:solidFill>
                  <a:srgbClr val="636E72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fr-FR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08:00</c:v>
                </c:pt>
                <c:pt idx="1">
                  <c:v>09:00</c:v>
                </c:pt>
                <c:pt idx="2">
                  <c:v>10:00</c:v>
                </c:pt>
                <c:pt idx="3">
                  <c:v>11:00</c:v>
                </c:pt>
                <c:pt idx="4">
                  <c:v>12:00</c:v>
                </c:pt>
                <c:pt idx="5">
                  <c:v>13:00</c:v>
                </c:pt>
                <c:pt idx="6">
                  <c:v>14:00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48</c:v>
                </c:pt>
                <c:pt idx="1">
                  <c:v>50</c:v>
                </c:pt>
                <c:pt idx="2">
                  <c:v>45</c:v>
                </c:pt>
                <c:pt idx="3">
                  <c:v>40</c:v>
                </c:pt>
                <c:pt idx="4">
                  <c:v>41</c:v>
                </c:pt>
                <c:pt idx="5">
                  <c:v>40</c:v>
                </c:pt>
                <c:pt idx="6">
                  <c:v>42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fr-FR" sz="1100" b="0" i="0" u="none" strike="noStrike" kern="1200" baseline="0">
                <a:solidFill>
                  <a:srgbClr val="636E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E8E3DE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fr-FR" sz="10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 panose="020B0604020202020204"/>
                  </a:rPr>
                  <a:t>°C</a:t>
                </a:r>
                <a:endParaRPr b="0" i="0" u="none" strike="noStrike">
                  <a:solidFill>
                    <a:srgbClr val="000000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fr-FR" sz="1100" b="0" i="0" u="none" strike="noStrike" kern="1200" baseline="0">
                <a:solidFill>
                  <a:srgbClr val="636E72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fr-FR"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b654c37d-3daa-4e3d-97cb-04ffa16c31ae}"/>
      </c:ext>
    </c:extLst>
  </c:chart>
  <c:spPr>
    <a:noFill/>
    <a:ln>
      <a:noFill/>
    </a:ln>
    <a:effectLst/>
  </c:spPr>
  <c:txPr>
    <a:bodyPr/>
    <a:lstStyle/>
    <a:p>
      <a:pPr>
        <a:defRPr lang="fr-FR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fdgdtfq2lnqh4/mnt/agents/output/bactechflow/images/1_12_399_Industry_4_0_Plant_Royalty.png"/>
          <p:cNvPicPr>
            <a:picLocks noChangeAspect="1"/>
          </p:cNvPicPr>
          <p:nvPr/>
        </p:nvPicPr>
        <p:blipFill>
          <a:blip r:embed="rId1"/>
          <a:srcRect l="14085" r="14085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72E">
                  <a:alpha val="60000"/>
                </a:srgbClr>
              </a:gs>
              <a:gs pos="50000">
                <a:srgbClr val="1E272E">
                  <a:alpha val="80000"/>
                </a:srgbClr>
              </a:gs>
              <a:gs pos="100000">
                <a:srgbClr val="1E272E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810500" y="3048000"/>
            <a:ext cx="635000" cy="508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5" name="Text 2"/>
          <p:cNvSpPr/>
          <p:nvPr/>
        </p:nvSpPr>
        <p:spPr>
          <a:xfrm>
            <a:off x="1778000" y="3352800"/>
            <a:ext cx="1270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kern="0" spc="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bAcTechFlow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048000" y="4445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Système IoT Industriel Multinational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318000" y="5080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50196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Architecture &amp; Infrastructure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FFFFFF">
              <a:alpha val="18824"/>
            </a:srgbClr>
          </a:solidFill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2D343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Sommaire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62000" y="1270000"/>
            <a:ext cx="635000" cy="508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4" name="Shape 2"/>
          <p:cNvSpPr/>
          <p:nvPr/>
        </p:nvSpPr>
        <p:spPr>
          <a:xfrm>
            <a:off x="762000" y="1498600"/>
            <a:ext cx="14732000" cy="12700"/>
          </a:xfrm>
          <a:prstGeom prst="rect">
            <a:avLst/>
          </a:prstGeom>
          <a:solidFill>
            <a:srgbClr val="D5D0CB"/>
          </a:solidFill>
        </p:spPr>
      </p:sp>
      <p:sp>
        <p:nvSpPr>
          <p:cNvPr id="5" name="Shape 3"/>
          <p:cNvSpPr/>
          <p:nvPr/>
        </p:nvSpPr>
        <p:spPr>
          <a:xfrm>
            <a:off x="762000" y="1841500"/>
            <a:ext cx="7048500" cy="3048000"/>
          </a:xfrm>
          <a:prstGeom prst="rect">
            <a:avLst/>
          </a:prstGeom>
          <a:solidFill>
            <a:srgbClr val="F0EDE8"/>
          </a:solidFill>
          <a:ln w="12700">
            <a:solidFill>
              <a:srgbClr val="D5D0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9500" y="2095500"/>
            <a:ext cx="1270000" cy="1016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C8794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3302000"/>
            <a:ext cx="64135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Architecture Globale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3810000"/>
            <a:ext cx="64135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Vue d'ensemble du système IoT, organisation multinationale et flux de données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45500" y="1841500"/>
            <a:ext cx="7048500" cy="3048000"/>
          </a:xfrm>
          <a:prstGeom prst="rect">
            <a:avLst/>
          </a:prstGeom>
          <a:solidFill>
            <a:srgbClr val="F0EDE8"/>
          </a:solidFill>
          <a:ln w="12700">
            <a:solidFill>
              <a:srgbClr val="D5D0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0" y="2095500"/>
            <a:ext cx="1270000" cy="1016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C8794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63000" y="3302000"/>
            <a:ext cx="64135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Infrastructure Terrain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763000" y="3810000"/>
            <a:ext cx="64135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Simulation des ateliers, PC Surface et collecte des données machines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62000" y="5270500"/>
            <a:ext cx="7048500" cy="3048000"/>
          </a:xfrm>
          <a:prstGeom prst="rect">
            <a:avLst/>
          </a:prstGeom>
          <a:solidFill>
            <a:srgbClr val="F0EDE8"/>
          </a:solidFill>
          <a:ln w="12700">
            <a:solidFill>
              <a:srgbClr val="D5D0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9500" y="5524500"/>
            <a:ext cx="1270000" cy="1016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C8794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6731000"/>
            <a:ext cx="64135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Couche Edge &amp; Connectivité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79500" y="7239000"/>
            <a:ext cx="64135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Gateway Edge, routage intelligent et gestion de la connectivité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445500" y="5270500"/>
            <a:ext cx="7048500" cy="3048000"/>
          </a:xfrm>
          <a:prstGeom prst="rect">
            <a:avLst/>
          </a:prstGeom>
          <a:solidFill>
            <a:srgbClr val="F0EDE8"/>
          </a:solidFill>
          <a:ln w="12700">
            <a:solidFill>
              <a:srgbClr val="D5D0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63000" y="5524500"/>
            <a:ext cx="1270000" cy="1016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6400" dirty="0">
                <a:solidFill>
                  <a:srgbClr val="C8794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63000" y="6731000"/>
            <a:ext cx="64135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Salle de Contrôle Centralisée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63000" y="7239000"/>
            <a:ext cx="64135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Serveur Xeon, application C# .NET Core et tableau de bord temps réel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fdgdtfq2lnqh4/mnt/agents/output/bactechflow/images/10_Embrace_the_Future_with_Smart_Factory.png"/>
          <p:cNvPicPr>
            <a:picLocks noChangeAspect="1"/>
          </p:cNvPicPr>
          <p:nvPr/>
        </p:nvPicPr>
        <p:blipFill>
          <a:blip r:embed="rId1"/>
          <a:srcRect t="74" b="7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72E">
                  <a:alpha val="94000"/>
                </a:srgbClr>
              </a:gs>
              <a:gs pos="60000">
                <a:srgbClr val="1E272E">
                  <a:alpha val="82000"/>
                </a:srgbClr>
              </a:gs>
              <a:gs pos="100000">
                <a:srgbClr val="1E272E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2540000" cy="1206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kern="0" spc="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762000" cy="508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6" name="Text 3"/>
          <p:cNvSpPr/>
          <p:nvPr/>
        </p:nvSpPr>
        <p:spPr>
          <a:xfrm>
            <a:off x="1016000" y="3937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Architecture Globale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16000" y="4699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Vue d'ensemble du système IoT industriel multinationale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50800" cy="4572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3" name="Text 1"/>
          <p:cNvSpPr/>
          <p:nvPr/>
        </p:nvSpPr>
        <p:spPr>
          <a:xfrm>
            <a:off x="9652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2D343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Vision Système — Du Terrain au Siège Central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B"/>
          </a:solidFill>
        </p:spPr>
      </p:sp>
      <p:sp>
        <p:nvSpPr>
          <p:cNvPr id="5" name="Shape 3"/>
          <p:cNvSpPr/>
          <p:nvPr/>
        </p:nvSpPr>
        <p:spPr>
          <a:xfrm>
            <a:off x="762000" y="1778000"/>
            <a:ext cx="3048000" cy="1524000"/>
          </a:xfrm>
          <a:prstGeom prst="rect">
            <a:avLst/>
          </a:prstGeom>
          <a:solidFill>
            <a:srgbClr val="2D3436"/>
          </a:solidFill>
        </p:spPr>
      </p:sp>
      <p:sp>
        <p:nvSpPr>
          <p:cNvPr id="6" name="Shape 4"/>
          <p:cNvSpPr/>
          <p:nvPr/>
        </p:nvSpPr>
        <p:spPr>
          <a:xfrm>
            <a:off x="1905000" y="1930400"/>
            <a:ext cx="762000" cy="609600"/>
          </a:xfrm>
          <a:custGeom>
            <a:avLst/>
            <a:gdLst/>
            <a:ahLst/>
            <a:cxnLst/>
            <a:rect l="l" t="t" r="r" b="b"/>
            <a:pathLst>
              <a:path w="762000" h="609600">
                <a:moveTo>
                  <a:pt x="495181" y="250627"/>
                </a:moveTo>
                <a:cubicBezTo>
                  <a:pt x="509707" y="246698"/>
                  <a:pt x="524947" y="253603"/>
                  <a:pt x="531495" y="267057"/>
                </a:cubicBezTo>
                <a:lnTo>
                  <a:pt x="553641" y="311825"/>
                </a:lnTo>
                <a:cubicBezTo>
                  <a:pt x="565904" y="313492"/>
                  <a:pt x="577929" y="316825"/>
                  <a:pt x="589240" y="321469"/>
                </a:cubicBezTo>
                <a:lnTo>
                  <a:pt x="630912" y="293727"/>
                </a:lnTo>
                <a:cubicBezTo>
                  <a:pt x="643414" y="285393"/>
                  <a:pt x="659963" y="287060"/>
                  <a:pt x="670560" y="297656"/>
                </a:cubicBezTo>
                <a:lnTo>
                  <a:pt x="693420" y="320516"/>
                </a:lnTo>
                <a:cubicBezTo>
                  <a:pt x="704017" y="331113"/>
                  <a:pt x="705683" y="347782"/>
                  <a:pt x="697349" y="360164"/>
                </a:cubicBezTo>
                <a:lnTo>
                  <a:pt x="669608" y="401717"/>
                </a:lnTo>
                <a:cubicBezTo>
                  <a:pt x="671870" y="407313"/>
                  <a:pt x="673894" y="413147"/>
                  <a:pt x="675561" y="419219"/>
                </a:cubicBezTo>
                <a:cubicBezTo>
                  <a:pt x="677228" y="425291"/>
                  <a:pt x="678299" y="431244"/>
                  <a:pt x="679133" y="437317"/>
                </a:cubicBezTo>
                <a:lnTo>
                  <a:pt x="724019" y="459462"/>
                </a:lnTo>
                <a:cubicBezTo>
                  <a:pt x="737473" y="466130"/>
                  <a:pt x="744379" y="481370"/>
                  <a:pt x="740450" y="495776"/>
                </a:cubicBezTo>
                <a:lnTo>
                  <a:pt x="732115" y="526971"/>
                </a:lnTo>
                <a:cubicBezTo>
                  <a:pt x="728186" y="541377"/>
                  <a:pt x="714732" y="551140"/>
                  <a:pt x="699730" y="550188"/>
                </a:cubicBezTo>
                <a:lnTo>
                  <a:pt x="649724" y="546973"/>
                </a:lnTo>
                <a:cubicBezTo>
                  <a:pt x="642223" y="556617"/>
                  <a:pt x="633532" y="565547"/>
                  <a:pt x="623649" y="573167"/>
                </a:cubicBezTo>
                <a:lnTo>
                  <a:pt x="626864" y="623054"/>
                </a:lnTo>
                <a:cubicBezTo>
                  <a:pt x="627817" y="638056"/>
                  <a:pt x="618053" y="651629"/>
                  <a:pt x="603647" y="655439"/>
                </a:cubicBezTo>
                <a:lnTo>
                  <a:pt x="572453" y="663773"/>
                </a:lnTo>
                <a:cubicBezTo>
                  <a:pt x="557927" y="667702"/>
                  <a:pt x="542806" y="660797"/>
                  <a:pt x="536138" y="647343"/>
                </a:cubicBezTo>
                <a:lnTo>
                  <a:pt x="513993" y="602575"/>
                </a:lnTo>
                <a:cubicBezTo>
                  <a:pt x="501729" y="600908"/>
                  <a:pt x="489704" y="597575"/>
                  <a:pt x="478393" y="592931"/>
                </a:cubicBezTo>
                <a:lnTo>
                  <a:pt x="436721" y="620673"/>
                </a:lnTo>
                <a:cubicBezTo>
                  <a:pt x="424220" y="629007"/>
                  <a:pt x="407670" y="627340"/>
                  <a:pt x="397073" y="616744"/>
                </a:cubicBezTo>
                <a:lnTo>
                  <a:pt x="374213" y="593884"/>
                </a:lnTo>
                <a:cubicBezTo>
                  <a:pt x="363617" y="583287"/>
                  <a:pt x="361950" y="566738"/>
                  <a:pt x="370284" y="554236"/>
                </a:cubicBezTo>
                <a:lnTo>
                  <a:pt x="398026" y="512564"/>
                </a:lnTo>
                <a:cubicBezTo>
                  <a:pt x="395764" y="506968"/>
                  <a:pt x="393740" y="501134"/>
                  <a:pt x="392073" y="495062"/>
                </a:cubicBezTo>
                <a:cubicBezTo>
                  <a:pt x="390406" y="488990"/>
                  <a:pt x="389334" y="482918"/>
                  <a:pt x="388501" y="476964"/>
                </a:cubicBezTo>
                <a:lnTo>
                  <a:pt x="343614" y="454819"/>
                </a:lnTo>
                <a:cubicBezTo>
                  <a:pt x="330160" y="448151"/>
                  <a:pt x="323374" y="432911"/>
                  <a:pt x="327184" y="418505"/>
                </a:cubicBezTo>
                <a:lnTo>
                  <a:pt x="335518" y="387310"/>
                </a:lnTo>
                <a:cubicBezTo>
                  <a:pt x="339447" y="372904"/>
                  <a:pt x="352901" y="363141"/>
                  <a:pt x="367903" y="364093"/>
                </a:cubicBezTo>
                <a:lnTo>
                  <a:pt x="417790" y="367308"/>
                </a:lnTo>
                <a:cubicBezTo>
                  <a:pt x="425291" y="357664"/>
                  <a:pt x="433983" y="348734"/>
                  <a:pt x="443865" y="341114"/>
                </a:cubicBezTo>
                <a:lnTo>
                  <a:pt x="440650" y="291346"/>
                </a:lnTo>
                <a:cubicBezTo>
                  <a:pt x="439698" y="276344"/>
                  <a:pt x="449461" y="262771"/>
                  <a:pt x="463867" y="258961"/>
                </a:cubicBezTo>
                <a:lnTo>
                  <a:pt x="495062" y="250627"/>
                </a:lnTo>
                <a:close/>
                <a:moveTo>
                  <a:pt x="533876" y="404813"/>
                </a:moveTo>
                <a:cubicBezTo>
                  <a:pt x="504963" y="404845"/>
                  <a:pt x="481515" y="428346"/>
                  <a:pt x="481548" y="457260"/>
                </a:cubicBezTo>
                <a:cubicBezTo>
                  <a:pt x="481581" y="486173"/>
                  <a:pt x="505082" y="509620"/>
                  <a:pt x="533995" y="509588"/>
                </a:cubicBezTo>
                <a:cubicBezTo>
                  <a:pt x="562909" y="509555"/>
                  <a:pt x="586356" y="486054"/>
                  <a:pt x="586323" y="457140"/>
                </a:cubicBezTo>
                <a:cubicBezTo>
                  <a:pt x="586290" y="428227"/>
                  <a:pt x="562790" y="404780"/>
                  <a:pt x="533876" y="404813"/>
                </a:cubicBezTo>
                <a:close/>
                <a:moveTo>
                  <a:pt x="267772" y="-54173"/>
                </a:moveTo>
                <a:lnTo>
                  <a:pt x="298966" y="-45839"/>
                </a:lnTo>
                <a:cubicBezTo>
                  <a:pt x="313373" y="-41910"/>
                  <a:pt x="323136" y="-28337"/>
                  <a:pt x="322183" y="-13454"/>
                </a:cubicBezTo>
                <a:lnTo>
                  <a:pt x="318968" y="36314"/>
                </a:lnTo>
                <a:cubicBezTo>
                  <a:pt x="328851" y="43934"/>
                  <a:pt x="337542" y="52745"/>
                  <a:pt x="345043" y="62508"/>
                </a:cubicBezTo>
                <a:lnTo>
                  <a:pt x="395049" y="59293"/>
                </a:lnTo>
                <a:cubicBezTo>
                  <a:pt x="409932" y="58341"/>
                  <a:pt x="423505" y="68104"/>
                  <a:pt x="427434" y="82510"/>
                </a:cubicBezTo>
                <a:lnTo>
                  <a:pt x="435769" y="113705"/>
                </a:lnTo>
                <a:cubicBezTo>
                  <a:pt x="439579" y="128111"/>
                  <a:pt x="432792" y="143351"/>
                  <a:pt x="419338" y="150019"/>
                </a:cubicBezTo>
                <a:lnTo>
                  <a:pt x="374452" y="172164"/>
                </a:lnTo>
                <a:cubicBezTo>
                  <a:pt x="373618" y="178237"/>
                  <a:pt x="372428" y="184309"/>
                  <a:pt x="370880" y="190262"/>
                </a:cubicBezTo>
                <a:cubicBezTo>
                  <a:pt x="369332" y="196215"/>
                  <a:pt x="367189" y="202168"/>
                  <a:pt x="364927" y="207764"/>
                </a:cubicBezTo>
                <a:lnTo>
                  <a:pt x="392668" y="249436"/>
                </a:lnTo>
                <a:cubicBezTo>
                  <a:pt x="401003" y="261937"/>
                  <a:pt x="399336" y="278487"/>
                  <a:pt x="388739" y="289084"/>
                </a:cubicBezTo>
                <a:lnTo>
                  <a:pt x="365879" y="311944"/>
                </a:lnTo>
                <a:cubicBezTo>
                  <a:pt x="355283" y="322540"/>
                  <a:pt x="338733" y="324207"/>
                  <a:pt x="326231" y="315873"/>
                </a:cubicBezTo>
                <a:lnTo>
                  <a:pt x="284559" y="288131"/>
                </a:lnTo>
                <a:cubicBezTo>
                  <a:pt x="273248" y="292775"/>
                  <a:pt x="261223" y="296108"/>
                  <a:pt x="248960" y="297775"/>
                </a:cubicBezTo>
                <a:lnTo>
                  <a:pt x="226814" y="342543"/>
                </a:lnTo>
                <a:cubicBezTo>
                  <a:pt x="220147" y="355997"/>
                  <a:pt x="204907" y="362783"/>
                  <a:pt x="190500" y="358973"/>
                </a:cubicBezTo>
                <a:lnTo>
                  <a:pt x="159306" y="350639"/>
                </a:lnTo>
                <a:cubicBezTo>
                  <a:pt x="144780" y="346710"/>
                  <a:pt x="135136" y="333137"/>
                  <a:pt x="136088" y="318254"/>
                </a:cubicBezTo>
                <a:lnTo>
                  <a:pt x="139303" y="268367"/>
                </a:lnTo>
                <a:cubicBezTo>
                  <a:pt x="129421" y="260747"/>
                  <a:pt x="120729" y="251936"/>
                  <a:pt x="113228" y="242173"/>
                </a:cubicBezTo>
                <a:lnTo>
                  <a:pt x="63222" y="245388"/>
                </a:lnTo>
                <a:cubicBezTo>
                  <a:pt x="48339" y="246340"/>
                  <a:pt x="34766" y="236577"/>
                  <a:pt x="30837" y="222171"/>
                </a:cubicBezTo>
                <a:lnTo>
                  <a:pt x="22503" y="190976"/>
                </a:lnTo>
                <a:cubicBezTo>
                  <a:pt x="18693" y="176570"/>
                  <a:pt x="25479" y="161330"/>
                  <a:pt x="38933" y="154662"/>
                </a:cubicBezTo>
                <a:lnTo>
                  <a:pt x="83820" y="132517"/>
                </a:lnTo>
                <a:cubicBezTo>
                  <a:pt x="84653" y="126444"/>
                  <a:pt x="85844" y="120491"/>
                  <a:pt x="87392" y="114419"/>
                </a:cubicBezTo>
                <a:cubicBezTo>
                  <a:pt x="89059" y="108347"/>
                  <a:pt x="90964" y="102513"/>
                  <a:pt x="93345" y="96917"/>
                </a:cubicBezTo>
                <a:lnTo>
                  <a:pt x="65603" y="55364"/>
                </a:lnTo>
                <a:cubicBezTo>
                  <a:pt x="57269" y="42863"/>
                  <a:pt x="58936" y="26313"/>
                  <a:pt x="69533" y="15716"/>
                </a:cubicBezTo>
                <a:lnTo>
                  <a:pt x="92393" y="-7144"/>
                </a:lnTo>
                <a:cubicBezTo>
                  <a:pt x="102989" y="-17740"/>
                  <a:pt x="119539" y="-19407"/>
                  <a:pt x="132040" y="-11073"/>
                </a:cubicBezTo>
                <a:lnTo>
                  <a:pt x="173712" y="16669"/>
                </a:lnTo>
                <a:cubicBezTo>
                  <a:pt x="185023" y="12025"/>
                  <a:pt x="197048" y="8692"/>
                  <a:pt x="209312" y="7025"/>
                </a:cubicBezTo>
                <a:lnTo>
                  <a:pt x="231458" y="-37743"/>
                </a:lnTo>
                <a:cubicBezTo>
                  <a:pt x="238125" y="-51197"/>
                  <a:pt x="253246" y="-57983"/>
                  <a:pt x="267772" y="-54173"/>
                </a:cubicBezTo>
                <a:close/>
                <a:moveTo>
                  <a:pt x="229076" y="100013"/>
                </a:moveTo>
                <a:cubicBezTo>
                  <a:pt x="200163" y="100013"/>
                  <a:pt x="176689" y="123487"/>
                  <a:pt x="176689" y="152400"/>
                </a:cubicBezTo>
                <a:cubicBezTo>
                  <a:pt x="176689" y="181313"/>
                  <a:pt x="200163" y="204787"/>
                  <a:pt x="229076" y="204787"/>
                </a:cubicBezTo>
                <a:cubicBezTo>
                  <a:pt x="257990" y="204787"/>
                  <a:pt x="281464" y="181313"/>
                  <a:pt x="281464" y="152400"/>
                </a:cubicBezTo>
                <a:cubicBezTo>
                  <a:pt x="281464" y="123487"/>
                  <a:pt x="257990" y="100013"/>
                  <a:pt x="229076" y="10001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762000" y="2641600"/>
            <a:ext cx="304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Machines Industrielles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0" y="2476500"/>
            <a:ext cx="1016000" cy="0"/>
          </a:xfrm>
          <a:prstGeom prst="straightConnector1">
            <a:avLst/>
          </a:prstGeom>
          <a:noFill/>
          <a:ln w="25400">
            <a:solidFill>
              <a:srgbClr val="C87941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826000" y="1778000"/>
            <a:ext cx="3048000" cy="15240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10" name="Shape 8"/>
          <p:cNvSpPr/>
          <p:nvPr/>
        </p:nvSpPr>
        <p:spPr>
          <a:xfrm>
            <a:off x="6007100" y="19304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295275" y="104775"/>
                </a:moveTo>
                <a:lnTo>
                  <a:pt x="390525" y="104775"/>
                </a:lnTo>
                <a:lnTo>
                  <a:pt x="390525" y="161925"/>
                </a:lnTo>
                <a:lnTo>
                  <a:pt x="295275" y="161925"/>
                </a:lnTo>
                <a:lnTo>
                  <a:pt x="295275" y="104775"/>
                </a:lnTo>
                <a:close/>
                <a:moveTo>
                  <a:pt x="285750" y="38100"/>
                </a:moveTo>
                <a:cubicBezTo>
                  <a:pt x="254198" y="38100"/>
                  <a:pt x="228600" y="63698"/>
                  <a:pt x="228600" y="95250"/>
                </a:cubicBezTo>
                <a:lnTo>
                  <a:pt x="228600" y="171450"/>
                </a:lnTo>
                <a:cubicBezTo>
                  <a:pt x="228600" y="203002"/>
                  <a:pt x="254198" y="228600"/>
                  <a:pt x="285750" y="228600"/>
                </a:cubicBezTo>
                <a:lnTo>
                  <a:pt x="304800" y="228600"/>
                </a:lnTo>
                <a:lnTo>
                  <a:pt x="304800" y="266700"/>
                </a:lnTo>
                <a:lnTo>
                  <a:pt x="38100" y="266700"/>
                </a:lnTo>
                <a:cubicBezTo>
                  <a:pt x="17026" y="266700"/>
                  <a:pt x="0" y="283726"/>
                  <a:pt x="0" y="304800"/>
                </a:cubicBezTo>
                <a:cubicBezTo>
                  <a:pt x="0" y="325874"/>
                  <a:pt x="17026" y="342900"/>
                  <a:pt x="38100" y="342900"/>
                </a:cubicBezTo>
                <a:lnTo>
                  <a:pt x="152400" y="342900"/>
                </a:lnTo>
                <a:lnTo>
                  <a:pt x="152400" y="381000"/>
                </a:lnTo>
                <a:lnTo>
                  <a:pt x="133350" y="381000"/>
                </a:lnTo>
                <a:cubicBezTo>
                  <a:pt x="101798" y="381000"/>
                  <a:pt x="76200" y="406598"/>
                  <a:pt x="76200" y="438150"/>
                </a:cubicBezTo>
                <a:lnTo>
                  <a:pt x="76200" y="514350"/>
                </a:lnTo>
                <a:cubicBezTo>
                  <a:pt x="76200" y="545902"/>
                  <a:pt x="101798" y="571500"/>
                  <a:pt x="133350" y="571500"/>
                </a:cubicBezTo>
                <a:lnTo>
                  <a:pt x="247650" y="571500"/>
                </a:lnTo>
                <a:cubicBezTo>
                  <a:pt x="279202" y="571500"/>
                  <a:pt x="304800" y="545902"/>
                  <a:pt x="304800" y="514350"/>
                </a:cubicBezTo>
                <a:lnTo>
                  <a:pt x="304800" y="438150"/>
                </a:lnTo>
                <a:cubicBezTo>
                  <a:pt x="304800" y="406598"/>
                  <a:pt x="279202" y="381000"/>
                  <a:pt x="247650" y="381000"/>
                </a:cubicBezTo>
                <a:lnTo>
                  <a:pt x="228600" y="381000"/>
                </a:lnTo>
                <a:lnTo>
                  <a:pt x="228600" y="342900"/>
                </a:lnTo>
                <a:lnTo>
                  <a:pt x="457200" y="342900"/>
                </a:lnTo>
                <a:lnTo>
                  <a:pt x="457200" y="381000"/>
                </a:lnTo>
                <a:lnTo>
                  <a:pt x="438150" y="381000"/>
                </a:lnTo>
                <a:cubicBezTo>
                  <a:pt x="406598" y="381000"/>
                  <a:pt x="381000" y="406598"/>
                  <a:pt x="381000" y="438150"/>
                </a:cubicBezTo>
                <a:lnTo>
                  <a:pt x="381000" y="514350"/>
                </a:lnTo>
                <a:cubicBezTo>
                  <a:pt x="381000" y="545902"/>
                  <a:pt x="406598" y="571500"/>
                  <a:pt x="438150" y="571500"/>
                </a:cubicBezTo>
                <a:lnTo>
                  <a:pt x="552450" y="571500"/>
                </a:lnTo>
                <a:cubicBezTo>
                  <a:pt x="584002" y="571500"/>
                  <a:pt x="609600" y="545902"/>
                  <a:pt x="609600" y="514350"/>
                </a:cubicBezTo>
                <a:lnTo>
                  <a:pt x="609600" y="438150"/>
                </a:lnTo>
                <a:cubicBezTo>
                  <a:pt x="609600" y="406598"/>
                  <a:pt x="584002" y="381000"/>
                  <a:pt x="552450" y="381000"/>
                </a:cubicBezTo>
                <a:lnTo>
                  <a:pt x="533400" y="381000"/>
                </a:lnTo>
                <a:lnTo>
                  <a:pt x="533400" y="342900"/>
                </a:lnTo>
                <a:lnTo>
                  <a:pt x="647700" y="342900"/>
                </a:lnTo>
                <a:cubicBezTo>
                  <a:pt x="668774" y="342900"/>
                  <a:pt x="685800" y="325874"/>
                  <a:pt x="685800" y="304800"/>
                </a:cubicBezTo>
                <a:cubicBezTo>
                  <a:pt x="685800" y="283726"/>
                  <a:pt x="668774" y="266700"/>
                  <a:pt x="647700" y="266700"/>
                </a:cubicBezTo>
                <a:lnTo>
                  <a:pt x="381000" y="266700"/>
                </a:lnTo>
                <a:lnTo>
                  <a:pt x="381000" y="228600"/>
                </a:lnTo>
                <a:lnTo>
                  <a:pt x="400050" y="228600"/>
                </a:lnTo>
                <a:cubicBezTo>
                  <a:pt x="431602" y="228600"/>
                  <a:pt x="457200" y="203002"/>
                  <a:pt x="457200" y="171450"/>
                </a:cubicBezTo>
                <a:lnTo>
                  <a:pt x="457200" y="95250"/>
                </a:lnTo>
                <a:cubicBezTo>
                  <a:pt x="457200" y="63698"/>
                  <a:pt x="431602" y="38100"/>
                  <a:pt x="400050" y="38100"/>
                </a:cubicBezTo>
                <a:lnTo>
                  <a:pt x="285750" y="38100"/>
                </a:lnTo>
                <a:close/>
                <a:moveTo>
                  <a:pt x="533400" y="447675"/>
                </a:moveTo>
                <a:lnTo>
                  <a:pt x="542925" y="447675"/>
                </a:lnTo>
                <a:lnTo>
                  <a:pt x="542925" y="504825"/>
                </a:lnTo>
                <a:lnTo>
                  <a:pt x="447675" y="504825"/>
                </a:lnTo>
                <a:lnTo>
                  <a:pt x="447675" y="447675"/>
                </a:lnTo>
                <a:lnTo>
                  <a:pt x="533400" y="447675"/>
                </a:lnTo>
                <a:close/>
                <a:moveTo>
                  <a:pt x="228600" y="447675"/>
                </a:moveTo>
                <a:lnTo>
                  <a:pt x="238125" y="447675"/>
                </a:lnTo>
                <a:lnTo>
                  <a:pt x="238125" y="504825"/>
                </a:lnTo>
                <a:lnTo>
                  <a:pt x="142875" y="504825"/>
                </a:lnTo>
                <a:lnTo>
                  <a:pt x="142875" y="447675"/>
                </a:lnTo>
                <a:lnTo>
                  <a:pt x="228600" y="447675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4826000" y="2641600"/>
            <a:ext cx="304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Gateway Edge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74000" y="2476500"/>
            <a:ext cx="1016000" cy="0"/>
          </a:xfrm>
          <a:prstGeom prst="straightConnector1">
            <a:avLst/>
          </a:prstGeom>
          <a:noFill/>
          <a:ln w="25400">
            <a:solidFill>
              <a:srgbClr val="C87941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8890000" y="1778000"/>
            <a:ext cx="3048000" cy="1524000"/>
          </a:xfrm>
          <a:prstGeom prst="rect">
            <a:avLst/>
          </a:prstGeom>
          <a:solidFill>
            <a:srgbClr val="2D3436"/>
          </a:solidFill>
        </p:spPr>
      </p:sp>
      <p:sp>
        <p:nvSpPr>
          <p:cNvPr id="14" name="Shape 12"/>
          <p:cNvSpPr/>
          <p:nvPr/>
        </p:nvSpPr>
        <p:spPr>
          <a:xfrm>
            <a:off x="10147300" y="19304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190500"/>
                </a:lnTo>
                <a:cubicBezTo>
                  <a:pt x="0" y="232529"/>
                  <a:pt x="34171" y="266700"/>
                  <a:pt x="76200" y="266700"/>
                </a:cubicBezTo>
                <a:lnTo>
                  <a:pt x="457200" y="266700"/>
                </a:lnTo>
                <a:cubicBezTo>
                  <a:pt x="499229" y="266700"/>
                  <a:pt x="533400" y="232529"/>
                  <a:pt x="533400" y="190500"/>
                </a:cubicBezTo>
                <a:lnTo>
                  <a:pt x="533400" y="114300"/>
                </a:lnTo>
                <a:cubicBezTo>
                  <a:pt x="533400" y="72271"/>
                  <a:pt x="499229" y="38100"/>
                  <a:pt x="457200" y="38100"/>
                </a:cubicBezTo>
                <a:lnTo>
                  <a:pt x="76200" y="38100"/>
                </a:lnTo>
                <a:close/>
                <a:moveTo>
                  <a:pt x="333375" y="123825"/>
                </a:moveTo>
                <a:cubicBezTo>
                  <a:pt x="349146" y="123825"/>
                  <a:pt x="361950" y="136629"/>
                  <a:pt x="361950" y="152400"/>
                </a:cubicBezTo>
                <a:cubicBezTo>
                  <a:pt x="361950" y="168171"/>
                  <a:pt x="349146" y="180975"/>
                  <a:pt x="333375" y="180975"/>
                </a:cubicBezTo>
                <a:cubicBezTo>
                  <a:pt x="317604" y="180975"/>
                  <a:pt x="304800" y="168171"/>
                  <a:pt x="304800" y="152400"/>
                </a:cubicBezTo>
                <a:cubicBezTo>
                  <a:pt x="304800" y="136629"/>
                  <a:pt x="317604" y="123825"/>
                  <a:pt x="333375" y="123825"/>
                </a:cubicBezTo>
                <a:close/>
                <a:moveTo>
                  <a:pt x="400050" y="152400"/>
                </a:moveTo>
                <a:cubicBezTo>
                  <a:pt x="400050" y="136629"/>
                  <a:pt x="412854" y="123825"/>
                  <a:pt x="428625" y="123825"/>
                </a:cubicBezTo>
                <a:cubicBezTo>
                  <a:pt x="444396" y="123825"/>
                  <a:pt x="457200" y="136629"/>
                  <a:pt x="457200" y="152400"/>
                </a:cubicBezTo>
                <a:cubicBezTo>
                  <a:pt x="457200" y="168171"/>
                  <a:pt x="444396" y="180975"/>
                  <a:pt x="428625" y="180975"/>
                </a:cubicBezTo>
                <a:cubicBezTo>
                  <a:pt x="412854" y="180975"/>
                  <a:pt x="400050" y="168171"/>
                  <a:pt x="400050" y="152400"/>
                </a:cubicBezTo>
                <a:close/>
                <a:moveTo>
                  <a:pt x="76200" y="342900"/>
                </a:moveTo>
                <a:cubicBezTo>
                  <a:pt x="34171" y="342900"/>
                  <a:pt x="0" y="377071"/>
                  <a:pt x="0" y="419100"/>
                </a:cubicBez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457200" y="571500"/>
                </a:lnTo>
                <a:cubicBezTo>
                  <a:pt x="499229" y="571500"/>
                  <a:pt x="533400" y="537329"/>
                  <a:pt x="533400" y="495300"/>
                </a:cubicBezTo>
                <a:lnTo>
                  <a:pt x="533400" y="419100"/>
                </a:lnTo>
                <a:cubicBezTo>
                  <a:pt x="533400" y="377071"/>
                  <a:pt x="499229" y="342900"/>
                  <a:pt x="457200" y="342900"/>
                </a:cubicBezTo>
                <a:lnTo>
                  <a:pt x="76200" y="342900"/>
                </a:lnTo>
                <a:close/>
                <a:moveTo>
                  <a:pt x="333375" y="428625"/>
                </a:moveTo>
                <a:cubicBezTo>
                  <a:pt x="349146" y="428625"/>
                  <a:pt x="361950" y="441429"/>
                  <a:pt x="361950" y="457200"/>
                </a:cubicBezTo>
                <a:cubicBezTo>
                  <a:pt x="361950" y="472971"/>
                  <a:pt x="349146" y="485775"/>
                  <a:pt x="333375" y="485775"/>
                </a:cubicBezTo>
                <a:cubicBezTo>
                  <a:pt x="317604" y="485775"/>
                  <a:pt x="304800" y="472971"/>
                  <a:pt x="304800" y="457200"/>
                </a:cubicBezTo>
                <a:cubicBezTo>
                  <a:pt x="304800" y="441429"/>
                  <a:pt x="317604" y="428625"/>
                  <a:pt x="333375" y="428625"/>
                </a:cubicBezTo>
                <a:close/>
                <a:moveTo>
                  <a:pt x="400050" y="457200"/>
                </a:moveTo>
                <a:cubicBezTo>
                  <a:pt x="400050" y="441429"/>
                  <a:pt x="412854" y="428625"/>
                  <a:pt x="428625" y="428625"/>
                </a:cubicBezTo>
                <a:cubicBezTo>
                  <a:pt x="444396" y="428625"/>
                  <a:pt x="457200" y="441429"/>
                  <a:pt x="457200" y="457200"/>
                </a:cubicBezTo>
                <a:cubicBezTo>
                  <a:pt x="457200" y="472971"/>
                  <a:pt x="444396" y="485775"/>
                  <a:pt x="428625" y="485775"/>
                </a:cubicBezTo>
                <a:cubicBezTo>
                  <a:pt x="412854" y="485775"/>
                  <a:pt x="400050" y="472971"/>
                  <a:pt x="400050" y="4572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8890000" y="2641600"/>
            <a:ext cx="3048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Serveur Xeon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938000" y="2476500"/>
            <a:ext cx="1016000" cy="0"/>
          </a:xfrm>
          <a:prstGeom prst="straightConnector1">
            <a:avLst/>
          </a:prstGeom>
          <a:noFill/>
          <a:ln w="25400">
            <a:solidFill>
              <a:srgbClr val="C87941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2954000" y="1778000"/>
            <a:ext cx="2540000" cy="15240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18" name="Shape 16"/>
          <p:cNvSpPr/>
          <p:nvPr/>
        </p:nvSpPr>
        <p:spPr>
          <a:xfrm>
            <a:off x="13919200" y="193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76200"/>
                </a:moveTo>
                <a:cubicBezTo>
                  <a:pt x="76200" y="55126"/>
                  <a:pt x="59174" y="38100"/>
                  <a:pt x="38100" y="38100"/>
                </a:cubicBezTo>
                <a:cubicBezTo>
                  <a:pt x="17026" y="38100"/>
                  <a:pt x="0" y="55126"/>
                  <a:pt x="0" y="76200"/>
                </a:cubicBezTo>
                <a:lnTo>
                  <a:pt x="0" y="476250"/>
                </a:lnTo>
                <a:cubicBezTo>
                  <a:pt x="0" y="528876"/>
                  <a:pt x="42624" y="571500"/>
                  <a:pt x="95250" y="571500"/>
                </a:cubicBezTo>
                <a:lnTo>
                  <a:pt x="571500" y="571500"/>
                </a:lnTo>
                <a:cubicBezTo>
                  <a:pt x="592574" y="571500"/>
                  <a:pt x="609600" y="554474"/>
                  <a:pt x="609600" y="533400"/>
                </a:cubicBezTo>
                <a:cubicBezTo>
                  <a:pt x="609600" y="512326"/>
                  <a:pt x="592574" y="495300"/>
                  <a:pt x="571500" y="495300"/>
                </a:cubicBezTo>
                <a:lnTo>
                  <a:pt x="95250" y="495300"/>
                </a:lnTo>
                <a:cubicBezTo>
                  <a:pt x="84773" y="495300"/>
                  <a:pt x="76200" y="486728"/>
                  <a:pt x="76200" y="476250"/>
                </a:cubicBezTo>
                <a:lnTo>
                  <a:pt x="76200" y="76200"/>
                </a:lnTo>
                <a:close/>
                <a:moveTo>
                  <a:pt x="560308" y="179308"/>
                </a:moveTo>
                <a:cubicBezTo>
                  <a:pt x="575191" y="164425"/>
                  <a:pt x="575191" y="140256"/>
                  <a:pt x="560308" y="125373"/>
                </a:cubicBezTo>
                <a:cubicBezTo>
                  <a:pt x="545425" y="110490"/>
                  <a:pt x="521256" y="110490"/>
                  <a:pt x="506373" y="125373"/>
                </a:cubicBezTo>
                <a:lnTo>
                  <a:pt x="381000" y="250865"/>
                </a:lnTo>
                <a:lnTo>
                  <a:pt x="312658" y="182642"/>
                </a:lnTo>
                <a:cubicBezTo>
                  <a:pt x="297775" y="167759"/>
                  <a:pt x="273606" y="167759"/>
                  <a:pt x="258723" y="182642"/>
                </a:cubicBezTo>
                <a:lnTo>
                  <a:pt x="144423" y="296942"/>
                </a:lnTo>
                <a:cubicBezTo>
                  <a:pt x="129540" y="311825"/>
                  <a:pt x="129540" y="335994"/>
                  <a:pt x="144423" y="350877"/>
                </a:cubicBezTo>
                <a:cubicBezTo>
                  <a:pt x="159306" y="365760"/>
                  <a:pt x="183475" y="365760"/>
                  <a:pt x="198358" y="350877"/>
                </a:cubicBezTo>
                <a:lnTo>
                  <a:pt x="285750" y="263485"/>
                </a:lnTo>
                <a:lnTo>
                  <a:pt x="354092" y="331827"/>
                </a:lnTo>
                <a:cubicBezTo>
                  <a:pt x="368975" y="346710"/>
                  <a:pt x="393144" y="346710"/>
                  <a:pt x="408027" y="331827"/>
                </a:cubicBezTo>
                <a:lnTo>
                  <a:pt x="560427" y="179427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9" name="Text 17"/>
          <p:cNvSpPr/>
          <p:nvPr/>
        </p:nvSpPr>
        <p:spPr>
          <a:xfrm>
            <a:off x="12954000" y="2641600"/>
            <a:ext cx="254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Tableau de Bord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26000" y="3810000"/>
            <a:ext cx="3048000" cy="1016000"/>
          </a:xfrm>
          <a:prstGeom prst="rect">
            <a:avLst/>
          </a:prstGeom>
          <a:solidFill>
            <a:srgbClr val="F0EDE8"/>
          </a:solidFill>
          <a:ln w="12700">
            <a:solidFill>
              <a:srgbClr val="D5D0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50000" y="3302000"/>
            <a:ext cx="0" cy="508000"/>
          </a:xfrm>
          <a:prstGeom prst="straightConnector1">
            <a:avLst/>
          </a:prstGeom>
          <a:noFill/>
          <a:ln w="25400">
            <a:solidFill>
              <a:srgbClr val="636E72"/>
            </a:solidFill>
            <a:prstDash val="sysDot"/>
            <a:headEnd type="none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4953000" y="3937000"/>
            <a:ext cx="2794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36E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Fallback local SQLite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36E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si connexion KO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5334000"/>
            <a:ext cx="14732000" cy="3048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L'architecture </a:t>
            </a:r>
            <a:r>
              <a:rPr lang="en-US" sz="20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bAcTechFlow</a:t>
            </a:r>
            <a:r>
              <a:rPr lang="en-US" sz="20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suit un flux hiérarchique de la machine au décideur :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C8794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r>
              <a:rPr lang="en-US" sz="20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0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Machines industrielles</a:t>
            </a:r>
            <a:r>
              <a:rPr lang="en-US" sz="20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15 machines réparties sur 2 ateliers émettent des données temps réel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C8794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r>
              <a:rPr lang="en-US" sz="20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0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Gateway Edge</a:t>
            </a:r>
            <a:r>
              <a:rPr lang="en-US" sz="20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Point de collecte et de routage intelligent avec stockage local de secours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C8794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r>
              <a:rPr lang="en-US" sz="20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0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Serveur Xeon</a:t>
            </a:r>
            <a:r>
              <a:rPr lang="en-US" sz="20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Cœur de traitement C# .NET Core persistant dans MySQL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C8794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r>
              <a:rPr lang="en-US" sz="20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20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Tableau de bord Web</a:t>
            </a:r>
            <a:r>
              <a:rPr lang="en-US" sz="20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Visualisation temps réel pour les opérateurs de la salle de contrôle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D5D0CB"/>
          </a:solidFill>
        </p:spPr>
      </p:sp>
      <p:sp>
        <p:nvSpPr>
          <p:cNvPr id="25" name="Text 23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50800" cy="4572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3" name="Text 1"/>
          <p:cNvSpPr/>
          <p:nvPr/>
        </p:nvSpPr>
        <p:spPr>
          <a:xfrm>
            <a:off x="965200" y="5715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2D343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Organisation des Sites — Usines, Ateliers &amp; Salles de Contrôle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B"/>
          </a:solidFill>
        </p:spPr>
      </p:sp>
      <p:sp>
        <p:nvSpPr>
          <p:cNvPr id="5" name="Text 3"/>
          <p:cNvSpPr/>
          <p:nvPr/>
        </p:nvSpPr>
        <p:spPr>
          <a:xfrm>
            <a:off x="762000" y="1651000"/>
            <a:ext cx="6858000" cy="673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Structure organisationnelle décentralisée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Chaque usine de l'entreprise multinationale est organisée en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ateliers de production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autonomes. Chaque atelier héberge un parc de machines industrielles connectées.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Une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salle de contrôle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par usine centralise l'ensemble des données machines via un serveur dédié.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Cette architecture décentralisée permet :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C8794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Une gestion autonome par site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8794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 remontée d'information vers le siège central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8794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La supervision temps réel mondiale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128000" y="1651000"/>
            <a:ext cx="7366000" cy="6731000"/>
          </a:xfrm>
          <a:prstGeom prst="rect">
            <a:avLst/>
          </a:prstGeom>
          <a:solidFill>
            <a:srgbClr val="F0EDE8"/>
          </a:solidFill>
          <a:ln w="12700">
            <a:solidFill>
              <a:srgbClr val="D5D0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99500" y="2032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63500" y="0"/>
                </a:moveTo>
                <a:cubicBezTo>
                  <a:pt x="28476" y="0"/>
                  <a:pt x="0" y="28476"/>
                  <a:pt x="0" y="63500"/>
                </a:cubicBezTo>
                <a:lnTo>
                  <a:pt x="0" y="444500"/>
                </a:lnTo>
                <a:cubicBezTo>
                  <a:pt x="0" y="479524"/>
                  <a:pt x="28476" y="508000"/>
                  <a:pt x="63500" y="508000"/>
                </a:cubicBezTo>
                <a:lnTo>
                  <a:pt x="317500" y="508000"/>
                </a:lnTo>
                <a:cubicBezTo>
                  <a:pt x="352524" y="508000"/>
                  <a:pt x="381000" y="479524"/>
                  <a:pt x="381000" y="444500"/>
                </a:cubicBezTo>
                <a:lnTo>
                  <a:pt x="381000" y="63500"/>
                </a:lnTo>
                <a:cubicBezTo>
                  <a:pt x="381000" y="28476"/>
                  <a:pt x="352524" y="0"/>
                  <a:pt x="317500" y="0"/>
                </a:cubicBezTo>
                <a:lnTo>
                  <a:pt x="63500" y="0"/>
                </a:lnTo>
                <a:close/>
                <a:moveTo>
                  <a:pt x="174625" y="349250"/>
                </a:moveTo>
                <a:lnTo>
                  <a:pt x="206375" y="349250"/>
                </a:lnTo>
                <a:cubicBezTo>
                  <a:pt x="223937" y="349250"/>
                  <a:pt x="238125" y="363438"/>
                  <a:pt x="238125" y="381000"/>
                </a:cubicBezTo>
                <a:lnTo>
                  <a:pt x="238125" y="460375"/>
                </a:lnTo>
                <a:lnTo>
                  <a:pt x="142875" y="460375"/>
                </a:lnTo>
                <a:lnTo>
                  <a:pt x="142875" y="381000"/>
                </a:lnTo>
                <a:cubicBezTo>
                  <a:pt x="142875" y="363438"/>
                  <a:pt x="157063" y="349250"/>
                  <a:pt x="174625" y="349250"/>
                </a:cubicBezTo>
                <a:close/>
                <a:moveTo>
                  <a:pt x="95250" y="111125"/>
                </a:moveTo>
                <a:cubicBezTo>
                  <a:pt x="95250" y="102394"/>
                  <a:pt x="102394" y="95250"/>
                  <a:pt x="111125" y="95250"/>
                </a:cubicBezTo>
                <a:lnTo>
                  <a:pt x="142875" y="95250"/>
                </a:lnTo>
                <a:cubicBezTo>
                  <a:pt x="151606" y="95250"/>
                  <a:pt x="158750" y="102394"/>
                  <a:pt x="158750" y="111125"/>
                </a:cubicBezTo>
                <a:lnTo>
                  <a:pt x="158750" y="142875"/>
                </a:lnTo>
                <a:cubicBezTo>
                  <a:pt x="158750" y="151606"/>
                  <a:pt x="151606" y="158750"/>
                  <a:pt x="142875" y="158750"/>
                </a:cubicBezTo>
                <a:lnTo>
                  <a:pt x="111125" y="158750"/>
                </a:lnTo>
                <a:cubicBezTo>
                  <a:pt x="102394" y="158750"/>
                  <a:pt x="95250" y="151606"/>
                  <a:pt x="95250" y="142875"/>
                </a:cubicBezTo>
                <a:lnTo>
                  <a:pt x="95250" y="111125"/>
                </a:lnTo>
                <a:close/>
                <a:moveTo>
                  <a:pt x="238125" y="95250"/>
                </a:moveTo>
                <a:lnTo>
                  <a:pt x="269875" y="95250"/>
                </a:lnTo>
                <a:cubicBezTo>
                  <a:pt x="278606" y="95250"/>
                  <a:pt x="285750" y="102394"/>
                  <a:pt x="285750" y="111125"/>
                </a:cubicBezTo>
                <a:lnTo>
                  <a:pt x="285750" y="142875"/>
                </a:lnTo>
                <a:cubicBezTo>
                  <a:pt x="285750" y="151606"/>
                  <a:pt x="278606" y="158750"/>
                  <a:pt x="269875" y="158750"/>
                </a:cubicBezTo>
                <a:lnTo>
                  <a:pt x="238125" y="158750"/>
                </a:lnTo>
                <a:cubicBezTo>
                  <a:pt x="229394" y="158750"/>
                  <a:pt x="222250" y="151606"/>
                  <a:pt x="222250" y="142875"/>
                </a:cubicBezTo>
                <a:lnTo>
                  <a:pt x="222250" y="111125"/>
                </a:lnTo>
                <a:cubicBezTo>
                  <a:pt x="222250" y="102394"/>
                  <a:pt x="229394" y="95250"/>
                  <a:pt x="238125" y="95250"/>
                </a:cubicBezTo>
                <a:close/>
                <a:moveTo>
                  <a:pt x="95250" y="238125"/>
                </a:moveTo>
                <a:cubicBezTo>
                  <a:pt x="95250" y="229394"/>
                  <a:pt x="102394" y="222250"/>
                  <a:pt x="111125" y="222250"/>
                </a:cubicBezTo>
                <a:lnTo>
                  <a:pt x="142875" y="222250"/>
                </a:lnTo>
                <a:cubicBezTo>
                  <a:pt x="151606" y="222250"/>
                  <a:pt x="158750" y="229394"/>
                  <a:pt x="158750" y="238125"/>
                </a:cubicBezTo>
                <a:lnTo>
                  <a:pt x="158750" y="269875"/>
                </a:lnTo>
                <a:cubicBezTo>
                  <a:pt x="158750" y="278606"/>
                  <a:pt x="151606" y="285750"/>
                  <a:pt x="142875" y="285750"/>
                </a:cubicBezTo>
                <a:lnTo>
                  <a:pt x="111125" y="285750"/>
                </a:lnTo>
                <a:cubicBezTo>
                  <a:pt x="102394" y="285750"/>
                  <a:pt x="95250" y="278606"/>
                  <a:pt x="95250" y="269875"/>
                </a:cubicBezTo>
                <a:lnTo>
                  <a:pt x="95250" y="238125"/>
                </a:lnTo>
                <a:close/>
                <a:moveTo>
                  <a:pt x="238125" y="222250"/>
                </a:moveTo>
                <a:lnTo>
                  <a:pt x="269875" y="222250"/>
                </a:lnTo>
                <a:cubicBezTo>
                  <a:pt x="278606" y="222250"/>
                  <a:pt x="285750" y="229394"/>
                  <a:pt x="285750" y="238125"/>
                </a:cubicBezTo>
                <a:lnTo>
                  <a:pt x="285750" y="269875"/>
                </a:lnTo>
                <a:cubicBezTo>
                  <a:pt x="285750" y="278606"/>
                  <a:pt x="278606" y="285750"/>
                  <a:pt x="269875" y="285750"/>
                </a:cubicBezTo>
                <a:lnTo>
                  <a:pt x="238125" y="285750"/>
                </a:lnTo>
                <a:cubicBezTo>
                  <a:pt x="229394" y="285750"/>
                  <a:pt x="222250" y="278606"/>
                  <a:pt x="222250" y="269875"/>
                </a:cubicBezTo>
                <a:lnTo>
                  <a:pt x="222250" y="238125"/>
                </a:lnTo>
                <a:cubicBezTo>
                  <a:pt x="222250" y="229394"/>
                  <a:pt x="229394" y="222250"/>
                  <a:pt x="238125" y="222250"/>
                </a:cubicBezTo>
                <a:close/>
              </a:path>
            </a:pathLst>
          </a:custGeom>
          <a:solidFill>
            <a:srgbClr val="C87941"/>
          </a:solidFill>
        </p:spPr>
      </p:sp>
      <p:sp>
        <p:nvSpPr>
          <p:cNvPr id="8" name="Text 6"/>
          <p:cNvSpPr/>
          <p:nvPr/>
        </p:nvSpPr>
        <p:spPr>
          <a:xfrm>
            <a:off x="9334500" y="2032000"/>
            <a:ext cx="381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Siège Central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890000" y="2730500"/>
            <a:ext cx="0" cy="508000"/>
          </a:xfrm>
          <a:prstGeom prst="straightConnector1">
            <a:avLst/>
          </a:prstGeom>
          <a:noFill/>
          <a:ln w="25400">
            <a:solidFill>
              <a:srgbClr val="B2BEC3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636000" y="342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1750" y="31750"/>
                </a:moveTo>
                <a:cubicBezTo>
                  <a:pt x="14188" y="31750"/>
                  <a:pt x="0" y="45938"/>
                  <a:pt x="0" y="63500"/>
                </a:cubicBezTo>
                <a:lnTo>
                  <a:pt x="0" y="428625"/>
                </a:lnTo>
                <a:cubicBezTo>
                  <a:pt x="0" y="454918"/>
                  <a:pt x="21332" y="476250"/>
                  <a:pt x="47625" y="476250"/>
                </a:cubicBezTo>
                <a:lnTo>
                  <a:pt x="460375" y="476250"/>
                </a:lnTo>
                <a:cubicBezTo>
                  <a:pt x="486668" y="476250"/>
                  <a:pt x="508000" y="454918"/>
                  <a:pt x="508000" y="428625"/>
                </a:cubicBezTo>
                <a:lnTo>
                  <a:pt x="508000" y="151011"/>
                </a:lnTo>
                <a:cubicBezTo>
                  <a:pt x="508000" y="132953"/>
                  <a:pt x="488752" y="121543"/>
                  <a:pt x="472877" y="130076"/>
                </a:cubicBezTo>
                <a:lnTo>
                  <a:pt x="317500" y="213717"/>
                </a:lnTo>
                <a:lnTo>
                  <a:pt x="317500" y="151011"/>
                </a:lnTo>
                <a:cubicBezTo>
                  <a:pt x="317500" y="132953"/>
                  <a:pt x="298252" y="121543"/>
                  <a:pt x="282377" y="130076"/>
                </a:cubicBezTo>
                <a:lnTo>
                  <a:pt x="127000" y="213717"/>
                </a:lnTo>
                <a:lnTo>
                  <a:pt x="127000" y="63500"/>
                </a:lnTo>
                <a:cubicBezTo>
                  <a:pt x="127000" y="45938"/>
                  <a:pt x="112812" y="31750"/>
                  <a:pt x="95250" y="31750"/>
                </a:cubicBezTo>
                <a:lnTo>
                  <a:pt x="31750" y="31750"/>
                </a:lnTo>
                <a:close/>
              </a:path>
            </a:pathLst>
          </a:custGeom>
          <a:solidFill>
            <a:srgbClr val="2D3436"/>
          </a:solidFill>
        </p:spPr>
      </p:sp>
      <p:sp>
        <p:nvSpPr>
          <p:cNvPr id="11" name="Text 9"/>
          <p:cNvSpPr/>
          <p:nvPr/>
        </p:nvSpPr>
        <p:spPr>
          <a:xfrm>
            <a:off x="9334500" y="3429000"/>
            <a:ext cx="381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Usines mondiales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34500" y="3937000"/>
            <a:ext cx="558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Réparties dans plusieurs pays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90000" y="4445000"/>
            <a:ext cx="0" cy="508000"/>
          </a:xfrm>
          <a:prstGeom prst="straightConnector1">
            <a:avLst/>
          </a:prstGeom>
          <a:noFill/>
          <a:ln w="25400">
            <a:solidFill>
              <a:srgbClr val="B2BEC3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8604250" y="5143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505420" y="97830"/>
                </a:moveTo>
                <a:cubicBezTo>
                  <a:pt x="512961" y="90289"/>
                  <a:pt x="525562" y="92174"/>
                  <a:pt x="529332" y="102096"/>
                </a:cubicBezTo>
                <a:cubicBezTo>
                  <a:pt x="536079" y="119658"/>
                  <a:pt x="539750" y="138807"/>
                  <a:pt x="539750" y="158750"/>
                </a:cubicBezTo>
                <a:cubicBezTo>
                  <a:pt x="539750" y="246459"/>
                  <a:pt x="468709" y="317500"/>
                  <a:pt x="381000" y="317500"/>
                </a:cubicBezTo>
                <a:cubicBezTo>
                  <a:pt x="363637" y="317500"/>
                  <a:pt x="346869" y="314722"/>
                  <a:pt x="331192" y="309562"/>
                </a:cubicBezTo>
                <a:lnTo>
                  <a:pt x="145752" y="495002"/>
                </a:lnTo>
                <a:cubicBezTo>
                  <a:pt x="117872" y="522883"/>
                  <a:pt x="72628" y="522883"/>
                  <a:pt x="44748" y="495002"/>
                </a:cubicBezTo>
                <a:cubicBezTo>
                  <a:pt x="16867" y="467122"/>
                  <a:pt x="16867" y="421878"/>
                  <a:pt x="44748" y="393998"/>
                </a:cubicBezTo>
                <a:lnTo>
                  <a:pt x="230188" y="208558"/>
                </a:lnTo>
                <a:cubicBezTo>
                  <a:pt x="225028" y="192881"/>
                  <a:pt x="222250" y="176213"/>
                  <a:pt x="222250" y="158750"/>
                </a:cubicBezTo>
                <a:cubicBezTo>
                  <a:pt x="222250" y="71041"/>
                  <a:pt x="293291" y="0"/>
                  <a:pt x="381000" y="0"/>
                </a:cubicBezTo>
                <a:cubicBezTo>
                  <a:pt x="400943" y="0"/>
                  <a:pt x="420092" y="3671"/>
                  <a:pt x="437654" y="10418"/>
                </a:cubicBezTo>
                <a:cubicBezTo>
                  <a:pt x="447576" y="14188"/>
                  <a:pt x="449362" y="26789"/>
                  <a:pt x="441920" y="34330"/>
                </a:cubicBezTo>
                <a:lnTo>
                  <a:pt x="353913" y="122337"/>
                </a:lnTo>
                <a:cubicBezTo>
                  <a:pt x="350937" y="125313"/>
                  <a:pt x="349250" y="129381"/>
                  <a:pt x="349250" y="133548"/>
                </a:cubicBezTo>
                <a:lnTo>
                  <a:pt x="349250" y="174625"/>
                </a:lnTo>
                <a:cubicBezTo>
                  <a:pt x="349250" y="183356"/>
                  <a:pt x="356394" y="190500"/>
                  <a:pt x="365125" y="190500"/>
                </a:cubicBezTo>
                <a:lnTo>
                  <a:pt x="406202" y="190500"/>
                </a:lnTo>
                <a:cubicBezTo>
                  <a:pt x="410369" y="190500"/>
                  <a:pt x="414437" y="188813"/>
                  <a:pt x="417413" y="185837"/>
                </a:cubicBezTo>
                <a:lnTo>
                  <a:pt x="505420" y="97830"/>
                </a:lnTo>
                <a:close/>
              </a:path>
            </a:pathLst>
          </a:custGeom>
          <a:solidFill>
            <a:srgbClr val="2D3436"/>
          </a:solidFill>
        </p:spPr>
      </p:sp>
      <p:sp>
        <p:nvSpPr>
          <p:cNvPr id="15" name="Text 13"/>
          <p:cNvSpPr/>
          <p:nvPr/>
        </p:nvSpPr>
        <p:spPr>
          <a:xfrm>
            <a:off x="9334500" y="5143500"/>
            <a:ext cx="381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Ateliers de production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34500" y="5651500"/>
            <a:ext cx="558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 ou plusieurs ateliers par usine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890000" y="6159500"/>
            <a:ext cx="0" cy="508000"/>
          </a:xfrm>
          <a:prstGeom prst="straightConnector1">
            <a:avLst/>
          </a:prstGeom>
          <a:noFill/>
          <a:ln w="25400">
            <a:solidFill>
              <a:srgbClr val="B2BEC3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636000" y="6858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23812"/>
                </a:moveTo>
                <a:cubicBezTo>
                  <a:pt x="174625" y="10616"/>
                  <a:pt x="164009" y="0"/>
                  <a:pt x="150813" y="0"/>
                </a:cubicBezTo>
                <a:cubicBezTo>
                  <a:pt x="137616" y="0"/>
                  <a:pt x="127000" y="10616"/>
                  <a:pt x="127000" y="23812"/>
                </a:cubicBezTo>
                <a:lnTo>
                  <a:pt x="127000" y="63500"/>
                </a:lnTo>
                <a:cubicBezTo>
                  <a:pt x="91976" y="63500"/>
                  <a:pt x="63500" y="91976"/>
                  <a:pt x="63500" y="127000"/>
                </a:cubicBezTo>
                <a:lnTo>
                  <a:pt x="23812" y="127000"/>
                </a:lnTo>
                <a:cubicBezTo>
                  <a:pt x="10616" y="127000"/>
                  <a:pt x="0" y="137616"/>
                  <a:pt x="0" y="150813"/>
                </a:cubicBezTo>
                <a:cubicBezTo>
                  <a:pt x="0" y="164009"/>
                  <a:pt x="10616" y="174625"/>
                  <a:pt x="23812" y="174625"/>
                </a:cubicBezTo>
                <a:lnTo>
                  <a:pt x="63500" y="174625"/>
                </a:lnTo>
                <a:lnTo>
                  <a:pt x="63500" y="230188"/>
                </a:lnTo>
                <a:lnTo>
                  <a:pt x="23812" y="230188"/>
                </a:lnTo>
                <a:cubicBezTo>
                  <a:pt x="10616" y="230188"/>
                  <a:pt x="0" y="240804"/>
                  <a:pt x="0" y="254000"/>
                </a:cubicBezTo>
                <a:cubicBezTo>
                  <a:pt x="0" y="267196"/>
                  <a:pt x="10616" y="277813"/>
                  <a:pt x="23812" y="277813"/>
                </a:cubicBezTo>
                <a:lnTo>
                  <a:pt x="63500" y="277813"/>
                </a:lnTo>
                <a:lnTo>
                  <a:pt x="63500" y="333375"/>
                </a:lnTo>
                <a:lnTo>
                  <a:pt x="23812" y="333375"/>
                </a:lnTo>
                <a:cubicBezTo>
                  <a:pt x="10616" y="333375"/>
                  <a:pt x="0" y="343991"/>
                  <a:pt x="0" y="357188"/>
                </a:cubicBezTo>
                <a:cubicBezTo>
                  <a:pt x="0" y="370384"/>
                  <a:pt x="10616" y="381000"/>
                  <a:pt x="23812" y="381000"/>
                </a:cubicBezTo>
                <a:lnTo>
                  <a:pt x="63500" y="381000"/>
                </a:lnTo>
                <a:cubicBezTo>
                  <a:pt x="63500" y="416024"/>
                  <a:pt x="91976" y="444500"/>
                  <a:pt x="127000" y="444500"/>
                </a:cubicBezTo>
                <a:lnTo>
                  <a:pt x="127000" y="484187"/>
                </a:lnTo>
                <a:cubicBezTo>
                  <a:pt x="127000" y="497384"/>
                  <a:pt x="137616" y="508000"/>
                  <a:pt x="150813" y="508000"/>
                </a:cubicBezTo>
                <a:cubicBezTo>
                  <a:pt x="164009" y="508000"/>
                  <a:pt x="174625" y="497384"/>
                  <a:pt x="174625" y="484187"/>
                </a:cubicBezTo>
                <a:lnTo>
                  <a:pt x="174625" y="444500"/>
                </a:lnTo>
                <a:lnTo>
                  <a:pt x="230188" y="444500"/>
                </a:lnTo>
                <a:lnTo>
                  <a:pt x="230188" y="484187"/>
                </a:lnTo>
                <a:cubicBezTo>
                  <a:pt x="230188" y="497384"/>
                  <a:pt x="240804" y="508000"/>
                  <a:pt x="254000" y="508000"/>
                </a:cubicBezTo>
                <a:cubicBezTo>
                  <a:pt x="267196" y="508000"/>
                  <a:pt x="277813" y="497384"/>
                  <a:pt x="277813" y="484187"/>
                </a:cubicBezTo>
                <a:lnTo>
                  <a:pt x="277813" y="444500"/>
                </a:lnTo>
                <a:lnTo>
                  <a:pt x="333375" y="444500"/>
                </a:lnTo>
                <a:lnTo>
                  <a:pt x="333375" y="484187"/>
                </a:lnTo>
                <a:cubicBezTo>
                  <a:pt x="333375" y="497384"/>
                  <a:pt x="343991" y="508000"/>
                  <a:pt x="357188" y="508000"/>
                </a:cubicBezTo>
                <a:cubicBezTo>
                  <a:pt x="370384" y="508000"/>
                  <a:pt x="381000" y="497384"/>
                  <a:pt x="381000" y="484187"/>
                </a:cubicBezTo>
                <a:lnTo>
                  <a:pt x="381000" y="444500"/>
                </a:lnTo>
                <a:cubicBezTo>
                  <a:pt x="416024" y="444500"/>
                  <a:pt x="444500" y="416024"/>
                  <a:pt x="444500" y="381000"/>
                </a:cubicBezTo>
                <a:lnTo>
                  <a:pt x="484187" y="381000"/>
                </a:lnTo>
                <a:cubicBezTo>
                  <a:pt x="497384" y="381000"/>
                  <a:pt x="508000" y="370384"/>
                  <a:pt x="508000" y="357188"/>
                </a:cubicBezTo>
                <a:cubicBezTo>
                  <a:pt x="508000" y="343991"/>
                  <a:pt x="497384" y="333375"/>
                  <a:pt x="484187" y="333375"/>
                </a:cubicBezTo>
                <a:lnTo>
                  <a:pt x="444500" y="333375"/>
                </a:lnTo>
                <a:lnTo>
                  <a:pt x="444500" y="277813"/>
                </a:lnTo>
                <a:lnTo>
                  <a:pt x="484187" y="277813"/>
                </a:lnTo>
                <a:cubicBezTo>
                  <a:pt x="497384" y="277813"/>
                  <a:pt x="508000" y="267196"/>
                  <a:pt x="508000" y="254000"/>
                </a:cubicBezTo>
                <a:cubicBezTo>
                  <a:pt x="508000" y="240804"/>
                  <a:pt x="497384" y="230188"/>
                  <a:pt x="484187" y="230188"/>
                </a:cubicBezTo>
                <a:lnTo>
                  <a:pt x="444500" y="230188"/>
                </a:lnTo>
                <a:lnTo>
                  <a:pt x="444500" y="174625"/>
                </a:lnTo>
                <a:lnTo>
                  <a:pt x="484187" y="174625"/>
                </a:lnTo>
                <a:cubicBezTo>
                  <a:pt x="497384" y="174625"/>
                  <a:pt x="508000" y="164009"/>
                  <a:pt x="508000" y="150813"/>
                </a:cubicBezTo>
                <a:cubicBezTo>
                  <a:pt x="508000" y="137616"/>
                  <a:pt x="497384" y="127000"/>
                  <a:pt x="484187" y="127000"/>
                </a:cubicBezTo>
                <a:lnTo>
                  <a:pt x="444500" y="127000"/>
                </a:lnTo>
                <a:cubicBezTo>
                  <a:pt x="444500" y="91976"/>
                  <a:pt x="416024" y="63500"/>
                  <a:pt x="381000" y="63500"/>
                </a:cubicBezTo>
                <a:lnTo>
                  <a:pt x="381000" y="23812"/>
                </a:lnTo>
                <a:cubicBezTo>
                  <a:pt x="381000" y="10616"/>
                  <a:pt x="370384" y="0"/>
                  <a:pt x="357188" y="0"/>
                </a:cubicBezTo>
                <a:cubicBezTo>
                  <a:pt x="343991" y="0"/>
                  <a:pt x="333375" y="10616"/>
                  <a:pt x="333375" y="23812"/>
                </a:cubicBezTo>
                <a:lnTo>
                  <a:pt x="333375" y="63500"/>
                </a:lnTo>
                <a:lnTo>
                  <a:pt x="277813" y="63500"/>
                </a:lnTo>
                <a:lnTo>
                  <a:pt x="277813" y="23812"/>
                </a:lnTo>
                <a:cubicBezTo>
                  <a:pt x="277813" y="10616"/>
                  <a:pt x="267196" y="0"/>
                  <a:pt x="254000" y="0"/>
                </a:cubicBezTo>
                <a:cubicBezTo>
                  <a:pt x="240804" y="0"/>
                  <a:pt x="230188" y="10616"/>
                  <a:pt x="230188" y="23812"/>
                </a:cubicBezTo>
                <a:lnTo>
                  <a:pt x="230188" y="63500"/>
                </a:lnTo>
                <a:lnTo>
                  <a:pt x="174625" y="63500"/>
                </a:lnTo>
                <a:lnTo>
                  <a:pt x="174625" y="23812"/>
                </a:lnTo>
                <a:close/>
                <a:moveTo>
                  <a:pt x="158750" y="127000"/>
                </a:moveTo>
                <a:lnTo>
                  <a:pt x="349250" y="127000"/>
                </a:lnTo>
                <a:cubicBezTo>
                  <a:pt x="366812" y="127000"/>
                  <a:pt x="381000" y="141188"/>
                  <a:pt x="381000" y="158750"/>
                </a:cubicBezTo>
                <a:lnTo>
                  <a:pt x="381000" y="349250"/>
                </a:lnTo>
                <a:cubicBezTo>
                  <a:pt x="381000" y="366812"/>
                  <a:pt x="366812" y="381000"/>
                  <a:pt x="349250" y="381000"/>
                </a:cubicBezTo>
                <a:lnTo>
                  <a:pt x="158750" y="381000"/>
                </a:lnTo>
                <a:cubicBezTo>
                  <a:pt x="141188" y="381000"/>
                  <a:pt x="127000" y="366812"/>
                  <a:pt x="127000" y="349250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174625" y="174625"/>
                </a:moveTo>
                <a:lnTo>
                  <a:pt x="174625" y="333375"/>
                </a:lnTo>
                <a:lnTo>
                  <a:pt x="333375" y="333375"/>
                </a:lnTo>
                <a:lnTo>
                  <a:pt x="333375" y="174625"/>
                </a:lnTo>
                <a:lnTo>
                  <a:pt x="174625" y="174625"/>
                </a:lnTo>
                <a:close/>
              </a:path>
            </a:pathLst>
          </a:custGeom>
          <a:solidFill>
            <a:srgbClr val="C87941"/>
          </a:solidFill>
        </p:spPr>
      </p:sp>
      <p:sp>
        <p:nvSpPr>
          <p:cNvPr id="19" name="Text 17"/>
          <p:cNvSpPr/>
          <p:nvPr/>
        </p:nvSpPr>
        <p:spPr>
          <a:xfrm>
            <a:off x="9334500" y="6858000"/>
            <a:ext cx="381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Machines industrielles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34500" y="7366000"/>
            <a:ext cx="5588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 ou plusieurs machines par atelier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D5D0CB"/>
          </a:solidFill>
        </p:spPr>
      </p:sp>
      <p:sp>
        <p:nvSpPr>
          <p:cNvPr id="22" name="Text 20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fdgdtfq2lnqh4/mnt/agents/output/bactechflow/images/2_66_700_Modern_Factory_Interior_Stock.png"/>
          <p:cNvPicPr>
            <a:picLocks noChangeAspect="1"/>
          </p:cNvPicPr>
          <p:nvPr/>
        </p:nvPicPr>
        <p:blipFill>
          <a:blip r:embed="rId1"/>
          <a:srcRect l="36" r="36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72E">
                  <a:alpha val="94000"/>
                </a:srgbClr>
              </a:gs>
              <a:gs pos="60000">
                <a:srgbClr val="1E272E">
                  <a:alpha val="82000"/>
                </a:srgbClr>
              </a:gs>
              <a:gs pos="100000">
                <a:srgbClr val="1E272E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2540000" cy="1206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kern="0" spc="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762000" cy="508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6" name="Text 3"/>
          <p:cNvSpPr/>
          <p:nvPr/>
        </p:nvSpPr>
        <p:spPr>
          <a:xfrm>
            <a:off x="1016000" y="3937000"/>
            <a:ext cx="762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Infrastructure Terrain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16000" y="4699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Simulation des ateliers et collecte des données machines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50800" cy="4572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3" name="Text 1"/>
          <p:cNvSpPr/>
          <p:nvPr/>
        </p:nvSpPr>
        <p:spPr>
          <a:xfrm>
            <a:off x="965200" y="5715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2D343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PC Surface — Simulation de 2 Ateliers de Production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B"/>
          </a:solidFill>
        </p:spPr>
      </p:sp>
      <p:sp>
        <p:nvSpPr>
          <p:cNvPr id="5" name="Shape 3"/>
          <p:cNvSpPr/>
          <p:nvPr/>
        </p:nvSpPr>
        <p:spPr>
          <a:xfrm>
            <a:off x="762000" y="1651000"/>
            <a:ext cx="7048500" cy="3302000"/>
          </a:xfrm>
          <a:prstGeom prst="rect">
            <a:avLst/>
          </a:prstGeom>
          <a:solidFill>
            <a:srgbClr val="2D3436"/>
          </a:solidFill>
        </p:spPr>
      </p:sp>
      <p:sp>
        <p:nvSpPr>
          <p:cNvPr id="6" name="Text 4"/>
          <p:cNvSpPr/>
          <p:nvPr/>
        </p:nvSpPr>
        <p:spPr>
          <a:xfrm>
            <a:off x="1079500" y="1841500"/>
            <a:ext cx="254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kern="0" spc="1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079500" y="27305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machines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302000"/>
            <a:ext cx="64135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ATELIER01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3873500"/>
            <a:ext cx="64135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Parc de 10 machines industrielles simulées par le PC Surface. Chaque machine émet des données temps réel.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45500" y="1651000"/>
            <a:ext cx="7048500" cy="33020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11" name="Text 9"/>
          <p:cNvSpPr/>
          <p:nvPr/>
        </p:nvSpPr>
        <p:spPr>
          <a:xfrm>
            <a:off x="8763000" y="1841500"/>
            <a:ext cx="254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kern="0" spc="1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05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763000" y="2730500"/>
            <a:ext cx="254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machines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63000" y="3302000"/>
            <a:ext cx="64135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ATELIER02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63000" y="3873500"/>
            <a:ext cx="64135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Parc de 5 machines industrielles simulées. Complément du premier atelier pour un total de 15 machines.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334000"/>
            <a:ext cx="14732000" cy="1016000"/>
          </a:xfrm>
          <a:prstGeom prst="rect">
            <a:avLst/>
          </a:prstGeom>
          <a:solidFill>
            <a:srgbClr val="F0EDE8"/>
          </a:solidFill>
          <a:ln w="12700">
            <a:solidFill>
              <a:srgbClr val="D5D0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9500" y="5397500"/>
            <a:ext cx="1524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kern="0" spc="100" dirty="0">
                <a:solidFill>
                  <a:srgbClr val="C8794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15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2794000" y="5524500"/>
            <a:ext cx="4699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4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Machines totales simulées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0" y="5524500"/>
            <a:ext cx="7493000" cy="698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636E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Format ID : Atelier-aa-Machine-mm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6731000"/>
            <a:ext cx="14732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PC Surface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joue le rôle de simulateur terrain. Il génère en temps réel les données opérationnelles (température, RPM, production) et les transmet au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Gateway Edge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pour routage vers la salle de contrôle.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D5D0CB"/>
          </a:solidFill>
        </p:spPr>
      </p:sp>
      <p:sp>
        <p:nvSpPr>
          <p:cNvPr id="21" name="Text 19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50800" cy="4572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3" name="Text 1"/>
          <p:cNvSpPr/>
          <p:nvPr/>
        </p:nvSpPr>
        <p:spPr>
          <a:xfrm>
            <a:off x="965200" y="571500"/>
            <a:ext cx="1143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2D343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Données Machines — Métriques Opérationnelles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B"/>
          </a:solidFill>
        </p:spPr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762000" y="1651000"/>
          <a:ext cx="14732000" cy="3556001"/>
        </p:xfrm>
        <a:graphic>
          <a:graphicData uri="http://schemas.openxmlformats.org/drawingml/2006/table">
            <a:tbl>
              <a:tblPr/>
              <a:tblGrid>
                <a:gridCol w="4419600"/>
                <a:gridCol w="3683000"/>
                <a:gridCol w="2946400"/>
                <a:gridCol w="3683000"/>
              </a:tblGrid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Métrique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Unité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Exemple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Identité Machine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 unique de la machine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8794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Atelier-01-Machine-03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Température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Température de fonctionnement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°C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alt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40</a:t>
                      </a:r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 °C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RPM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Vitesse de rotation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tr/min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3 200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776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Production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Compteur d'unités produites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unités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14 850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</a:tr>
              <a:tr h="582121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Horodatage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Date et heure de la mesure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2026-06-08 14:32:18</a:t>
                      </a:r>
                      <a:endParaRPr lang="en-US" sz="1600" dirty="0">
                        <a:latin typeface="QuattrocentoSans" pitchFamily="34" charset="0"/>
                        <a:ea typeface="QuattrocentoSans" pitchFamily="34" charset="0"/>
                        <a:cs typeface="QuattrocentoSans" pitchFamily="34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2000" y="5588000"/>
            <a:ext cx="762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Format d'identification des machines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62000" y="6223000"/>
            <a:ext cx="14732000" cy="889000"/>
          </a:xfrm>
          <a:prstGeom prst="rect">
            <a:avLst/>
          </a:prstGeom>
          <a:solidFill>
            <a:srgbClr val="2D3436"/>
          </a:solidFill>
        </p:spPr>
      </p:sp>
      <p:sp>
        <p:nvSpPr>
          <p:cNvPr id="8" name="Text 5"/>
          <p:cNvSpPr/>
          <p:nvPr/>
        </p:nvSpPr>
        <p:spPr>
          <a:xfrm>
            <a:off x="1016000" y="6286500"/>
            <a:ext cx="14224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kern="0" spc="3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Atelier-</a:t>
            </a:r>
            <a:r>
              <a:rPr lang="en-US" sz="2800" kern="0" spc="300" dirty="0">
                <a:solidFill>
                  <a:srgbClr val="C8794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aa</a:t>
            </a:r>
            <a:r>
              <a:rPr lang="en-US" sz="2800" kern="0" spc="3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-Machine-</a:t>
            </a:r>
            <a:r>
              <a:rPr lang="en-US" sz="2800" kern="0" spc="300" dirty="0">
                <a:solidFill>
                  <a:srgbClr val="C8794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mm</a:t>
            </a:r>
            <a:endParaRPr lang="en-US" sz="1600" dirty="0"/>
          </a:p>
        </p:txBody>
      </p:sp>
      <p:sp>
        <p:nvSpPr>
          <p:cNvPr id="5" name="Text 6"/>
          <p:cNvSpPr/>
          <p:nvPr/>
        </p:nvSpPr>
        <p:spPr>
          <a:xfrm>
            <a:off x="762000" y="7366000"/>
            <a:ext cx="14732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8794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Atelier-01-Machine-07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Machine n°7 de l'atelier 01    </a:t>
            </a:r>
            <a:r>
              <a:rPr lang="en-US" sz="1800" dirty="0">
                <a:solidFill>
                  <a:srgbClr val="C8794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Atelier-02-Machine-03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Machine n°3 de l'atelier 02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Chaque machine émet ces données en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continu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capturées par le système pour analyse temps réel et historisation dans MySQL.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D5D0CB"/>
          </a:solidFill>
        </p:spPr>
      </p:sp>
      <p:sp>
        <p:nvSpPr>
          <p:cNvPr id="11" name="Text 8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fdgdtfq2lnqh4/mnt/agents/output/bactechflow/images/9_Data_Center_Server_Room_Cooling_Efficiency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72E">
                  <a:alpha val="94000"/>
                </a:srgbClr>
              </a:gs>
              <a:gs pos="60000">
                <a:srgbClr val="1E272E">
                  <a:alpha val="82000"/>
                </a:srgbClr>
              </a:gs>
              <a:gs pos="100000">
                <a:srgbClr val="1E272E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2540000" cy="1206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kern="0" spc="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762000" cy="508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6" name="Text 3"/>
          <p:cNvSpPr/>
          <p:nvPr/>
        </p:nvSpPr>
        <p:spPr>
          <a:xfrm>
            <a:off x="1016000" y="3937000"/>
            <a:ext cx="889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Couche Edge &amp; Connectivité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16000" y="4699000"/>
            <a:ext cx="889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Gateway Edge, routage intelligent et gestion de la connectivité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50800" cy="4572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3" name="Text 1"/>
          <p:cNvSpPr/>
          <p:nvPr/>
        </p:nvSpPr>
        <p:spPr>
          <a:xfrm>
            <a:off x="965200" y="5715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2D343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Gateway Edge — Routage Intelligent avec Fallback Local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B"/>
          </a:solidFill>
        </p:spPr>
      </p:sp>
      <p:sp>
        <p:nvSpPr>
          <p:cNvPr id="5" name="Shape 3"/>
          <p:cNvSpPr/>
          <p:nvPr/>
        </p:nvSpPr>
        <p:spPr>
          <a:xfrm>
            <a:off x="762000" y="1778000"/>
            <a:ext cx="3556000" cy="1270000"/>
          </a:xfrm>
          <a:prstGeom prst="rect">
            <a:avLst/>
          </a:prstGeom>
          <a:solidFill>
            <a:srgbClr val="2D3436"/>
          </a:solidFill>
        </p:spPr>
      </p:sp>
      <p:sp>
        <p:nvSpPr>
          <p:cNvPr id="6" name="Shape 4"/>
          <p:cNvSpPr/>
          <p:nvPr/>
        </p:nvSpPr>
        <p:spPr>
          <a:xfrm>
            <a:off x="958850" y="19685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371386" y="187970"/>
                </a:moveTo>
                <a:cubicBezTo>
                  <a:pt x="382280" y="185023"/>
                  <a:pt x="393710" y="190202"/>
                  <a:pt x="398621" y="200293"/>
                </a:cubicBezTo>
                <a:lnTo>
                  <a:pt x="415230" y="233869"/>
                </a:lnTo>
                <a:cubicBezTo>
                  <a:pt x="424428" y="235119"/>
                  <a:pt x="433447" y="237619"/>
                  <a:pt x="441930" y="241102"/>
                </a:cubicBezTo>
                <a:lnTo>
                  <a:pt x="473184" y="220295"/>
                </a:lnTo>
                <a:cubicBezTo>
                  <a:pt x="482560" y="214045"/>
                  <a:pt x="494973" y="215295"/>
                  <a:pt x="502920" y="223242"/>
                </a:cubicBezTo>
                <a:lnTo>
                  <a:pt x="520065" y="240387"/>
                </a:lnTo>
                <a:cubicBezTo>
                  <a:pt x="528012" y="248335"/>
                  <a:pt x="529263" y="260836"/>
                  <a:pt x="523012" y="270123"/>
                </a:cubicBezTo>
                <a:lnTo>
                  <a:pt x="502206" y="301288"/>
                </a:lnTo>
                <a:cubicBezTo>
                  <a:pt x="503902" y="305485"/>
                  <a:pt x="505420" y="309860"/>
                  <a:pt x="506670" y="314414"/>
                </a:cubicBezTo>
                <a:cubicBezTo>
                  <a:pt x="507921" y="318968"/>
                  <a:pt x="508724" y="323433"/>
                  <a:pt x="509349" y="327987"/>
                </a:cubicBezTo>
                <a:lnTo>
                  <a:pt x="543014" y="344597"/>
                </a:lnTo>
                <a:cubicBezTo>
                  <a:pt x="553105" y="349597"/>
                  <a:pt x="558284" y="361027"/>
                  <a:pt x="555337" y="371832"/>
                </a:cubicBezTo>
                <a:lnTo>
                  <a:pt x="549086" y="395228"/>
                </a:lnTo>
                <a:cubicBezTo>
                  <a:pt x="546140" y="406033"/>
                  <a:pt x="536049" y="413355"/>
                  <a:pt x="524798" y="412641"/>
                </a:cubicBezTo>
                <a:lnTo>
                  <a:pt x="487293" y="410230"/>
                </a:lnTo>
                <a:cubicBezTo>
                  <a:pt x="481667" y="417463"/>
                  <a:pt x="475149" y="424160"/>
                  <a:pt x="467737" y="429875"/>
                </a:cubicBezTo>
                <a:lnTo>
                  <a:pt x="470148" y="467291"/>
                </a:lnTo>
                <a:cubicBezTo>
                  <a:pt x="470862" y="478542"/>
                  <a:pt x="463540" y="488722"/>
                  <a:pt x="452735" y="491579"/>
                </a:cubicBezTo>
                <a:lnTo>
                  <a:pt x="429339" y="497830"/>
                </a:lnTo>
                <a:cubicBezTo>
                  <a:pt x="418445" y="500777"/>
                  <a:pt x="407104" y="495598"/>
                  <a:pt x="402104" y="485507"/>
                </a:cubicBezTo>
                <a:lnTo>
                  <a:pt x="385495" y="451931"/>
                </a:lnTo>
                <a:cubicBezTo>
                  <a:pt x="376297" y="450681"/>
                  <a:pt x="367278" y="448181"/>
                  <a:pt x="358795" y="444698"/>
                </a:cubicBezTo>
                <a:lnTo>
                  <a:pt x="327541" y="465505"/>
                </a:lnTo>
                <a:cubicBezTo>
                  <a:pt x="318165" y="471755"/>
                  <a:pt x="305753" y="470505"/>
                  <a:pt x="297805" y="462558"/>
                </a:cubicBezTo>
                <a:lnTo>
                  <a:pt x="280660" y="445413"/>
                </a:lnTo>
                <a:cubicBezTo>
                  <a:pt x="272713" y="437465"/>
                  <a:pt x="271463" y="425053"/>
                  <a:pt x="277713" y="415677"/>
                </a:cubicBezTo>
                <a:lnTo>
                  <a:pt x="298519" y="384423"/>
                </a:lnTo>
                <a:cubicBezTo>
                  <a:pt x="296823" y="380226"/>
                  <a:pt x="295305" y="375851"/>
                  <a:pt x="294055" y="371296"/>
                </a:cubicBezTo>
                <a:cubicBezTo>
                  <a:pt x="292804" y="366742"/>
                  <a:pt x="292001" y="362188"/>
                  <a:pt x="291376" y="357723"/>
                </a:cubicBezTo>
                <a:lnTo>
                  <a:pt x="257711" y="341114"/>
                </a:lnTo>
                <a:cubicBezTo>
                  <a:pt x="247620" y="336113"/>
                  <a:pt x="242530" y="324683"/>
                  <a:pt x="245388" y="313879"/>
                </a:cubicBezTo>
                <a:lnTo>
                  <a:pt x="251639" y="290483"/>
                </a:lnTo>
                <a:cubicBezTo>
                  <a:pt x="254585" y="279678"/>
                  <a:pt x="264676" y="272355"/>
                  <a:pt x="275927" y="273070"/>
                </a:cubicBezTo>
                <a:lnTo>
                  <a:pt x="313343" y="275481"/>
                </a:lnTo>
                <a:cubicBezTo>
                  <a:pt x="318968" y="268248"/>
                  <a:pt x="325487" y="261551"/>
                  <a:pt x="332899" y="255836"/>
                </a:cubicBezTo>
                <a:lnTo>
                  <a:pt x="330488" y="218509"/>
                </a:lnTo>
                <a:cubicBezTo>
                  <a:pt x="329773" y="207258"/>
                  <a:pt x="337096" y="197078"/>
                  <a:pt x="347901" y="194221"/>
                </a:cubicBezTo>
                <a:lnTo>
                  <a:pt x="371296" y="187970"/>
                </a:lnTo>
                <a:close/>
                <a:moveTo>
                  <a:pt x="400407" y="303609"/>
                </a:moveTo>
                <a:cubicBezTo>
                  <a:pt x="378722" y="303634"/>
                  <a:pt x="361137" y="321260"/>
                  <a:pt x="361161" y="342945"/>
                </a:cubicBezTo>
                <a:cubicBezTo>
                  <a:pt x="361186" y="364630"/>
                  <a:pt x="378811" y="382215"/>
                  <a:pt x="400496" y="382191"/>
                </a:cubicBezTo>
                <a:cubicBezTo>
                  <a:pt x="422182" y="382166"/>
                  <a:pt x="439767" y="364540"/>
                  <a:pt x="439742" y="342855"/>
                </a:cubicBezTo>
                <a:cubicBezTo>
                  <a:pt x="439718" y="321170"/>
                  <a:pt x="422092" y="303585"/>
                  <a:pt x="400407" y="303609"/>
                </a:cubicBezTo>
                <a:close/>
                <a:moveTo>
                  <a:pt x="200829" y="-40630"/>
                </a:moveTo>
                <a:lnTo>
                  <a:pt x="224224" y="-34379"/>
                </a:lnTo>
                <a:cubicBezTo>
                  <a:pt x="235029" y="-31433"/>
                  <a:pt x="242352" y="-21253"/>
                  <a:pt x="241637" y="-10091"/>
                </a:cubicBezTo>
                <a:lnTo>
                  <a:pt x="239226" y="27236"/>
                </a:lnTo>
                <a:cubicBezTo>
                  <a:pt x="246638" y="32951"/>
                  <a:pt x="253157" y="39559"/>
                  <a:pt x="258782" y="46881"/>
                </a:cubicBezTo>
                <a:lnTo>
                  <a:pt x="296287" y="44470"/>
                </a:lnTo>
                <a:cubicBezTo>
                  <a:pt x="307449" y="43755"/>
                  <a:pt x="317629" y="51078"/>
                  <a:pt x="320576" y="61883"/>
                </a:cubicBezTo>
                <a:lnTo>
                  <a:pt x="326827" y="85279"/>
                </a:lnTo>
                <a:cubicBezTo>
                  <a:pt x="329684" y="96083"/>
                  <a:pt x="324594" y="107513"/>
                  <a:pt x="314504" y="112514"/>
                </a:cubicBezTo>
                <a:lnTo>
                  <a:pt x="280839" y="129123"/>
                </a:lnTo>
                <a:cubicBezTo>
                  <a:pt x="280214" y="133677"/>
                  <a:pt x="279321" y="138232"/>
                  <a:pt x="278160" y="142696"/>
                </a:cubicBezTo>
                <a:cubicBezTo>
                  <a:pt x="276999" y="147161"/>
                  <a:pt x="275392" y="151626"/>
                  <a:pt x="273695" y="155823"/>
                </a:cubicBezTo>
                <a:lnTo>
                  <a:pt x="294501" y="187077"/>
                </a:lnTo>
                <a:cubicBezTo>
                  <a:pt x="300752" y="196453"/>
                  <a:pt x="299502" y="208865"/>
                  <a:pt x="291554" y="216813"/>
                </a:cubicBezTo>
                <a:lnTo>
                  <a:pt x="274409" y="233958"/>
                </a:lnTo>
                <a:cubicBezTo>
                  <a:pt x="266462" y="241905"/>
                  <a:pt x="254050" y="243155"/>
                  <a:pt x="244673" y="236905"/>
                </a:cubicBezTo>
                <a:lnTo>
                  <a:pt x="213420" y="216098"/>
                </a:lnTo>
                <a:cubicBezTo>
                  <a:pt x="204936" y="219581"/>
                  <a:pt x="195917" y="222081"/>
                  <a:pt x="186720" y="223331"/>
                </a:cubicBezTo>
                <a:lnTo>
                  <a:pt x="170111" y="256907"/>
                </a:lnTo>
                <a:cubicBezTo>
                  <a:pt x="165110" y="266998"/>
                  <a:pt x="153680" y="272088"/>
                  <a:pt x="142875" y="269230"/>
                </a:cubicBezTo>
                <a:lnTo>
                  <a:pt x="119479" y="262979"/>
                </a:lnTo>
                <a:cubicBezTo>
                  <a:pt x="108585" y="260033"/>
                  <a:pt x="101352" y="249853"/>
                  <a:pt x="102066" y="238691"/>
                </a:cubicBezTo>
                <a:lnTo>
                  <a:pt x="104477" y="201275"/>
                </a:lnTo>
                <a:cubicBezTo>
                  <a:pt x="97066" y="195560"/>
                  <a:pt x="90547" y="188952"/>
                  <a:pt x="84921" y="181630"/>
                </a:cubicBezTo>
                <a:lnTo>
                  <a:pt x="47417" y="184041"/>
                </a:lnTo>
                <a:cubicBezTo>
                  <a:pt x="36255" y="184755"/>
                  <a:pt x="26075" y="177433"/>
                  <a:pt x="23128" y="166628"/>
                </a:cubicBezTo>
                <a:lnTo>
                  <a:pt x="16877" y="143232"/>
                </a:lnTo>
                <a:cubicBezTo>
                  <a:pt x="14020" y="132427"/>
                  <a:pt x="19110" y="120997"/>
                  <a:pt x="29200" y="115997"/>
                </a:cubicBezTo>
                <a:lnTo>
                  <a:pt x="62865" y="99387"/>
                </a:lnTo>
                <a:cubicBezTo>
                  <a:pt x="63490" y="94833"/>
                  <a:pt x="64383" y="90368"/>
                  <a:pt x="65544" y="85814"/>
                </a:cubicBezTo>
                <a:cubicBezTo>
                  <a:pt x="66794" y="81260"/>
                  <a:pt x="68223" y="76885"/>
                  <a:pt x="70009" y="72688"/>
                </a:cubicBezTo>
                <a:lnTo>
                  <a:pt x="49203" y="41523"/>
                </a:lnTo>
                <a:cubicBezTo>
                  <a:pt x="42952" y="32147"/>
                  <a:pt x="44202" y="19735"/>
                  <a:pt x="52149" y="11787"/>
                </a:cubicBezTo>
                <a:lnTo>
                  <a:pt x="69294" y="-5358"/>
                </a:lnTo>
                <a:cubicBezTo>
                  <a:pt x="77242" y="-13305"/>
                  <a:pt x="89654" y="-14555"/>
                  <a:pt x="99030" y="-8305"/>
                </a:cubicBezTo>
                <a:lnTo>
                  <a:pt x="130284" y="12502"/>
                </a:lnTo>
                <a:cubicBezTo>
                  <a:pt x="138767" y="9019"/>
                  <a:pt x="147786" y="6519"/>
                  <a:pt x="156984" y="5269"/>
                </a:cubicBezTo>
                <a:lnTo>
                  <a:pt x="173593" y="-28307"/>
                </a:lnTo>
                <a:cubicBezTo>
                  <a:pt x="178594" y="-38398"/>
                  <a:pt x="189934" y="-43488"/>
                  <a:pt x="200829" y="-40630"/>
                </a:cubicBezTo>
                <a:close/>
                <a:moveTo>
                  <a:pt x="171807" y="75009"/>
                </a:moveTo>
                <a:cubicBezTo>
                  <a:pt x="150122" y="75009"/>
                  <a:pt x="132517" y="92615"/>
                  <a:pt x="132517" y="114300"/>
                </a:cubicBezTo>
                <a:cubicBezTo>
                  <a:pt x="132517" y="135985"/>
                  <a:pt x="150122" y="153591"/>
                  <a:pt x="171807" y="153591"/>
                </a:cubicBezTo>
                <a:cubicBezTo>
                  <a:pt x="193492" y="153591"/>
                  <a:pt x="211098" y="135985"/>
                  <a:pt x="211098" y="114300"/>
                </a:cubicBezTo>
                <a:cubicBezTo>
                  <a:pt x="211098" y="92615"/>
                  <a:pt x="193492" y="75009"/>
                  <a:pt x="171807" y="75009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7" name="Text 5"/>
          <p:cNvSpPr/>
          <p:nvPr/>
        </p:nvSpPr>
        <p:spPr>
          <a:xfrm>
            <a:off x="1600200" y="1905000"/>
            <a:ext cx="24638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Données machines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Depuis PC Surface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18000" y="2387600"/>
            <a:ext cx="635000" cy="0"/>
          </a:xfrm>
          <a:prstGeom prst="straightConnector1">
            <a:avLst/>
          </a:prstGeom>
          <a:noFill/>
          <a:ln w="25400">
            <a:solidFill>
              <a:srgbClr val="C87941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953000" y="1778000"/>
            <a:ext cx="3556000" cy="12700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10" name="Shape 8"/>
          <p:cNvSpPr/>
          <p:nvPr/>
        </p:nvSpPr>
        <p:spPr>
          <a:xfrm>
            <a:off x="5178425" y="1968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21456" y="78581"/>
                </a:moveTo>
                <a:lnTo>
                  <a:pt x="292894" y="78581"/>
                </a:lnTo>
                <a:lnTo>
                  <a:pt x="292894" y="121444"/>
                </a:lnTo>
                <a:lnTo>
                  <a:pt x="221456" y="121444"/>
                </a:lnTo>
                <a:lnTo>
                  <a:pt x="221456" y="78581"/>
                </a:lnTo>
                <a:close/>
                <a:moveTo>
                  <a:pt x="214313" y="28575"/>
                </a:moveTo>
                <a:cubicBezTo>
                  <a:pt x="190649" y="28575"/>
                  <a:pt x="171450" y="47774"/>
                  <a:pt x="171450" y="71438"/>
                </a:cubicBezTo>
                <a:lnTo>
                  <a:pt x="171450" y="128588"/>
                </a:lnTo>
                <a:cubicBezTo>
                  <a:pt x="171450" y="152251"/>
                  <a:pt x="190649" y="171450"/>
                  <a:pt x="214313" y="171450"/>
                </a:cubicBezTo>
                <a:lnTo>
                  <a:pt x="228600" y="171450"/>
                </a:lnTo>
                <a:lnTo>
                  <a:pt x="228600" y="200025"/>
                </a:lnTo>
                <a:lnTo>
                  <a:pt x="28575" y="200025"/>
                </a:lnTo>
                <a:cubicBezTo>
                  <a:pt x="12769" y="200025"/>
                  <a:pt x="0" y="212794"/>
                  <a:pt x="0" y="228600"/>
                </a:cubicBezTo>
                <a:cubicBezTo>
                  <a:pt x="0" y="244406"/>
                  <a:pt x="12769" y="257175"/>
                  <a:pt x="28575" y="257175"/>
                </a:cubicBezTo>
                <a:lnTo>
                  <a:pt x="114300" y="257175"/>
                </a:lnTo>
                <a:lnTo>
                  <a:pt x="114300" y="285750"/>
                </a:lnTo>
                <a:lnTo>
                  <a:pt x="100013" y="285750"/>
                </a:lnTo>
                <a:cubicBezTo>
                  <a:pt x="76349" y="285750"/>
                  <a:pt x="57150" y="304949"/>
                  <a:pt x="57150" y="328613"/>
                </a:cubicBezTo>
                <a:lnTo>
                  <a:pt x="57150" y="385763"/>
                </a:lnTo>
                <a:cubicBezTo>
                  <a:pt x="57150" y="409426"/>
                  <a:pt x="76349" y="428625"/>
                  <a:pt x="100013" y="428625"/>
                </a:cubicBezTo>
                <a:lnTo>
                  <a:pt x="185738" y="428625"/>
                </a:lnTo>
                <a:cubicBezTo>
                  <a:pt x="209401" y="428625"/>
                  <a:pt x="228600" y="409426"/>
                  <a:pt x="228600" y="385763"/>
                </a:cubicBezTo>
                <a:lnTo>
                  <a:pt x="228600" y="328613"/>
                </a:lnTo>
                <a:cubicBezTo>
                  <a:pt x="228600" y="304949"/>
                  <a:pt x="209401" y="285750"/>
                  <a:pt x="185738" y="285750"/>
                </a:cubicBezTo>
                <a:lnTo>
                  <a:pt x="171450" y="285750"/>
                </a:lnTo>
                <a:lnTo>
                  <a:pt x="171450" y="257175"/>
                </a:lnTo>
                <a:lnTo>
                  <a:pt x="342900" y="257175"/>
                </a:lnTo>
                <a:lnTo>
                  <a:pt x="342900" y="285750"/>
                </a:lnTo>
                <a:lnTo>
                  <a:pt x="328613" y="285750"/>
                </a:lnTo>
                <a:cubicBezTo>
                  <a:pt x="304949" y="285750"/>
                  <a:pt x="285750" y="304949"/>
                  <a:pt x="285750" y="328613"/>
                </a:cubicBezTo>
                <a:lnTo>
                  <a:pt x="285750" y="385763"/>
                </a:lnTo>
                <a:cubicBezTo>
                  <a:pt x="285750" y="409426"/>
                  <a:pt x="304949" y="428625"/>
                  <a:pt x="328613" y="428625"/>
                </a:cubicBezTo>
                <a:lnTo>
                  <a:pt x="414338" y="428625"/>
                </a:lnTo>
                <a:cubicBezTo>
                  <a:pt x="438001" y="428625"/>
                  <a:pt x="457200" y="409426"/>
                  <a:pt x="457200" y="385763"/>
                </a:cubicBezTo>
                <a:lnTo>
                  <a:pt x="457200" y="328613"/>
                </a:lnTo>
                <a:cubicBezTo>
                  <a:pt x="457200" y="304949"/>
                  <a:pt x="438001" y="285750"/>
                  <a:pt x="414338" y="285750"/>
                </a:cubicBezTo>
                <a:lnTo>
                  <a:pt x="400050" y="285750"/>
                </a:lnTo>
                <a:lnTo>
                  <a:pt x="400050" y="257175"/>
                </a:lnTo>
                <a:lnTo>
                  <a:pt x="485775" y="257175"/>
                </a:lnTo>
                <a:cubicBezTo>
                  <a:pt x="501581" y="257175"/>
                  <a:pt x="514350" y="244406"/>
                  <a:pt x="514350" y="228600"/>
                </a:cubicBezTo>
                <a:cubicBezTo>
                  <a:pt x="514350" y="212794"/>
                  <a:pt x="501581" y="200025"/>
                  <a:pt x="485775" y="200025"/>
                </a:cubicBezTo>
                <a:lnTo>
                  <a:pt x="285750" y="200025"/>
                </a:lnTo>
                <a:lnTo>
                  <a:pt x="285750" y="171450"/>
                </a:lnTo>
                <a:lnTo>
                  <a:pt x="300038" y="171450"/>
                </a:lnTo>
                <a:cubicBezTo>
                  <a:pt x="323701" y="171450"/>
                  <a:pt x="342900" y="152251"/>
                  <a:pt x="342900" y="128588"/>
                </a:cubicBezTo>
                <a:lnTo>
                  <a:pt x="342900" y="71438"/>
                </a:lnTo>
                <a:cubicBezTo>
                  <a:pt x="342900" y="47774"/>
                  <a:pt x="323701" y="28575"/>
                  <a:pt x="300038" y="28575"/>
                </a:cubicBezTo>
                <a:lnTo>
                  <a:pt x="214313" y="28575"/>
                </a:lnTo>
                <a:close/>
                <a:moveTo>
                  <a:pt x="400050" y="335756"/>
                </a:moveTo>
                <a:lnTo>
                  <a:pt x="407194" y="335756"/>
                </a:lnTo>
                <a:lnTo>
                  <a:pt x="407194" y="378619"/>
                </a:lnTo>
                <a:lnTo>
                  <a:pt x="335756" y="378619"/>
                </a:lnTo>
                <a:lnTo>
                  <a:pt x="335756" y="335756"/>
                </a:lnTo>
                <a:lnTo>
                  <a:pt x="400050" y="335756"/>
                </a:lnTo>
                <a:close/>
                <a:moveTo>
                  <a:pt x="171450" y="335756"/>
                </a:moveTo>
                <a:lnTo>
                  <a:pt x="178594" y="335756"/>
                </a:lnTo>
                <a:lnTo>
                  <a:pt x="178594" y="378619"/>
                </a:lnTo>
                <a:lnTo>
                  <a:pt x="107156" y="378619"/>
                </a:lnTo>
                <a:lnTo>
                  <a:pt x="107156" y="335756"/>
                </a:lnTo>
                <a:lnTo>
                  <a:pt x="171450" y="335756"/>
                </a:lnTo>
                <a:close/>
              </a:path>
            </a:pathLst>
          </a:custGeom>
          <a:solidFill>
            <a:srgbClr val="FFFFFF"/>
          </a:solidFill>
        </p:spPr>
      </p:sp>
      <p:sp>
        <p:nvSpPr>
          <p:cNvPr id="11" name="Text 9"/>
          <p:cNvSpPr/>
          <p:nvPr/>
        </p:nvSpPr>
        <p:spPr>
          <a:xfrm>
            <a:off x="5791200" y="1905000"/>
            <a:ext cx="24638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Gateway Edge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Test connexion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09000" y="2387600"/>
            <a:ext cx="635000" cy="0"/>
          </a:xfrm>
          <a:prstGeom prst="straightConnector1">
            <a:avLst/>
          </a:prstGeom>
          <a:noFill/>
          <a:ln w="25400">
            <a:solidFill>
              <a:srgbClr val="C87941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9144000" y="1651000"/>
            <a:ext cx="3302000" cy="635000"/>
          </a:xfrm>
          <a:prstGeom prst="rect">
            <a:avLst/>
          </a:prstGeom>
          <a:solidFill>
            <a:srgbClr val="27AE60"/>
          </a:solidFill>
        </p:spPr>
      </p:sp>
      <p:sp>
        <p:nvSpPr>
          <p:cNvPr id="14" name="Text 12"/>
          <p:cNvSpPr/>
          <p:nvPr/>
        </p:nvSpPr>
        <p:spPr>
          <a:xfrm>
            <a:off x="9144000" y="1651000"/>
            <a:ext cx="3302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Connexion OK → Transmet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31000" y="3048000"/>
            <a:ext cx="0" cy="635000"/>
          </a:xfrm>
          <a:prstGeom prst="straightConnector1">
            <a:avLst/>
          </a:prstGeom>
          <a:noFill/>
          <a:ln w="25400">
            <a:solidFill>
              <a:srgbClr val="636E72"/>
            </a:solidFill>
            <a:prstDash val="sysDot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953000" y="3683000"/>
            <a:ext cx="3556000" cy="635000"/>
          </a:xfrm>
          <a:prstGeom prst="rect">
            <a:avLst/>
          </a:prstGeom>
          <a:solidFill>
            <a:srgbClr val="636E72"/>
          </a:solidFill>
        </p:spPr>
      </p:sp>
      <p:sp>
        <p:nvSpPr>
          <p:cNvPr id="17" name="Text 15"/>
          <p:cNvSpPr/>
          <p:nvPr/>
        </p:nvSpPr>
        <p:spPr>
          <a:xfrm>
            <a:off x="4953000" y="3683000"/>
            <a:ext cx="3556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Connexion KO → Stockage local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446000" y="1968500"/>
            <a:ext cx="762000" cy="0"/>
          </a:xfrm>
          <a:prstGeom prst="straightConnector1">
            <a:avLst/>
          </a:prstGeom>
          <a:noFill/>
          <a:ln w="25400">
            <a:solidFill>
              <a:srgbClr val="C87941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3208000" y="1778000"/>
            <a:ext cx="2286000" cy="1270000"/>
          </a:xfrm>
          <a:prstGeom prst="rect">
            <a:avLst/>
          </a:prstGeom>
          <a:solidFill>
            <a:srgbClr val="2D3436"/>
          </a:solidFill>
        </p:spPr>
      </p:sp>
      <p:sp>
        <p:nvSpPr>
          <p:cNvPr id="20" name="Shape 18"/>
          <p:cNvSpPr/>
          <p:nvPr/>
        </p:nvSpPr>
        <p:spPr>
          <a:xfrm>
            <a:off x="14074775" y="1968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13208000" y="2489200"/>
            <a:ext cx="2286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Serveur Xeon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53000" y="4572000"/>
            <a:ext cx="3556000" cy="762000"/>
          </a:xfrm>
          <a:prstGeom prst="rect">
            <a:avLst/>
          </a:prstGeom>
          <a:solidFill>
            <a:srgbClr val="F0EDE8"/>
          </a:solidFill>
          <a:ln w="12700">
            <a:solidFill>
              <a:srgbClr val="D5D0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32400" y="47244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636E72"/>
          </a:solidFill>
        </p:spPr>
      </p:sp>
      <p:sp>
        <p:nvSpPr>
          <p:cNvPr id="24" name="Text 22"/>
          <p:cNvSpPr/>
          <p:nvPr/>
        </p:nvSpPr>
        <p:spPr>
          <a:xfrm>
            <a:off x="5740400" y="4572000"/>
            <a:ext cx="25146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636E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Base SQLite locale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Stockage temporaire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5842000"/>
            <a:ext cx="762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Fonctionnement du Gateway Edge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2000" y="6413500"/>
            <a:ext cx="14732000" cy="222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PC Gateway Edge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constitue la couche de connectivité entre le terrain et la salle de contrôle :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8794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Test de connexion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vers le serveur Xeon dans la salle de contrôle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7AE6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Si connexion OK →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transmission immédiate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des données au serveur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▶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Si connexion KO →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stockage local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dans SQLite embarquée, synchronisation différée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D5D0CB"/>
          </a:solidFill>
        </p:spPr>
      </p:sp>
      <p:sp>
        <p:nvSpPr>
          <p:cNvPr id="28" name="Text 26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fdgdtfq2lnqh4/mnt/agents/output/bactechflow/images/3_54_871_Control_Room_Screens_Royalty.png"/>
          <p:cNvPicPr>
            <a:picLocks noChangeAspect="1"/>
          </p:cNvPicPr>
          <p:nvPr/>
        </p:nvPicPr>
        <p:blipFill>
          <a:blip r:embed="rId1"/>
          <a:srcRect l="2773" r="277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1E272E">
                  <a:alpha val="94000"/>
                </a:srgbClr>
              </a:gs>
              <a:gs pos="60000">
                <a:srgbClr val="1E272E">
                  <a:alpha val="82000"/>
                </a:srgbClr>
              </a:gs>
              <a:gs pos="100000">
                <a:srgbClr val="1E272E">
                  <a:alpha val="5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286000"/>
            <a:ext cx="2540000" cy="1206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kern="0" spc="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1016000" y="3683000"/>
            <a:ext cx="762000" cy="508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6" name="Text 3"/>
          <p:cNvSpPr/>
          <p:nvPr/>
        </p:nvSpPr>
        <p:spPr>
          <a:xfrm>
            <a:off x="1016000" y="3937000"/>
            <a:ext cx="889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Salle de Contrôle Centralisée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16000" y="4699000"/>
            <a:ext cx="889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>
                    <a:alpha val="6666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Serveur, application C# .NET Core et tableau de bord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50800" cy="4572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3" name="Text 1"/>
          <p:cNvSpPr/>
          <p:nvPr/>
        </p:nvSpPr>
        <p:spPr>
          <a:xfrm>
            <a:off x="965200" y="571500"/>
            <a:ext cx="1397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2D343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Serveur Xeon — Application C# .NET Core &amp; Persistance MySQL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B"/>
          </a:solidFill>
        </p:spPr>
      </p:sp>
      <p:sp>
        <p:nvSpPr>
          <p:cNvPr id="7" name="Text 4"/>
          <p:cNvSpPr/>
          <p:nvPr/>
        </p:nvSpPr>
        <p:spPr>
          <a:xfrm>
            <a:off x="7366000" y="1651000"/>
            <a:ext cx="8128000" cy="381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Stack technique serveur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600"/>
              </a:spcBef>
            </a:pPr>
            <a:r>
              <a:rPr lang="en-US" sz="1800" dirty="0">
                <a:solidFill>
                  <a:srgbClr val="C8794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OS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Windows sur PC Xeon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8794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Framework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C# .NET Core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8794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Base de données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MySQL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8794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API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Endpoints REST pour réception données</a:t>
            </a:r>
            <a:endParaRPr lang="en-US" sz="20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C8794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■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Frontend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: Tableau de bord Web temps réel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2000" y="5842000"/>
            <a:ext cx="762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Flux de traitement des données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762000" y="6477000"/>
            <a:ext cx="3302000" cy="889000"/>
          </a:xfrm>
          <a:prstGeom prst="rect">
            <a:avLst/>
          </a:prstGeom>
          <a:solidFill>
            <a:srgbClr val="2D3436"/>
          </a:solidFill>
        </p:spPr>
      </p:sp>
      <p:sp>
        <p:nvSpPr>
          <p:cNvPr id="10" name="Text 7"/>
          <p:cNvSpPr/>
          <p:nvPr/>
        </p:nvSpPr>
        <p:spPr>
          <a:xfrm>
            <a:off x="762000" y="6477000"/>
            <a:ext cx="3302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Réception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Données Gateway Edge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64000" y="6908800"/>
            <a:ext cx="508000" cy="0"/>
          </a:xfrm>
          <a:prstGeom prst="straightConnector1">
            <a:avLst/>
          </a:prstGeom>
          <a:noFill/>
          <a:ln w="25400">
            <a:solidFill>
              <a:srgbClr val="C87941"/>
            </a:solidFill>
            <a:prstDash val="solid"/>
            <a:headEnd type="none"/>
            <a:tailEnd type="arrow"/>
          </a:ln>
        </p:spPr>
      </p:sp>
      <p:sp>
        <p:nvSpPr>
          <p:cNvPr id="12" name="Shape 9"/>
          <p:cNvSpPr/>
          <p:nvPr/>
        </p:nvSpPr>
        <p:spPr>
          <a:xfrm>
            <a:off x="4572000" y="6477000"/>
            <a:ext cx="3302000" cy="8890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13" name="Text 10"/>
          <p:cNvSpPr/>
          <p:nvPr/>
        </p:nvSpPr>
        <p:spPr>
          <a:xfrm>
            <a:off x="4572000" y="6477000"/>
            <a:ext cx="3302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Traitement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Validation &amp; parsing C#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874000" y="6908800"/>
            <a:ext cx="508000" cy="0"/>
          </a:xfrm>
          <a:prstGeom prst="straightConnector1">
            <a:avLst/>
          </a:prstGeom>
          <a:noFill/>
          <a:ln w="25400">
            <a:solidFill>
              <a:srgbClr val="C87941"/>
            </a:solidFill>
            <a:prstDash val="solid"/>
            <a:headEnd type="none"/>
            <a:tailEnd type="arrow"/>
          </a:ln>
        </p:spPr>
      </p:sp>
      <p:sp>
        <p:nvSpPr>
          <p:cNvPr id="15" name="Shape 12"/>
          <p:cNvSpPr/>
          <p:nvPr/>
        </p:nvSpPr>
        <p:spPr>
          <a:xfrm>
            <a:off x="8382000" y="6477000"/>
            <a:ext cx="3302000" cy="889000"/>
          </a:xfrm>
          <a:prstGeom prst="rect">
            <a:avLst/>
          </a:prstGeom>
          <a:solidFill>
            <a:srgbClr val="2D3436"/>
          </a:solidFill>
        </p:spPr>
      </p:sp>
      <p:sp>
        <p:nvSpPr>
          <p:cNvPr id="16" name="Text 13"/>
          <p:cNvSpPr/>
          <p:nvPr/>
        </p:nvSpPr>
        <p:spPr>
          <a:xfrm>
            <a:off x="8382000" y="6477000"/>
            <a:ext cx="3302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Persistance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Enregistrement MySQL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1684000" y="6908800"/>
            <a:ext cx="508000" cy="0"/>
          </a:xfrm>
          <a:prstGeom prst="straightConnector1">
            <a:avLst/>
          </a:prstGeom>
          <a:noFill/>
          <a:ln w="25400">
            <a:solidFill>
              <a:srgbClr val="C87941"/>
            </a:solidFill>
            <a:prstDash val="solid"/>
            <a:headEnd type="none"/>
            <a:tailEnd type="arrow"/>
          </a:ln>
        </p:spPr>
      </p:sp>
      <p:sp>
        <p:nvSpPr>
          <p:cNvPr id="18" name="Shape 15"/>
          <p:cNvSpPr/>
          <p:nvPr/>
        </p:nvSpPr>
        <p:spPr>
          <a:xfrm>
            <a:off x="12192000" y="6477000"/>
            <a:ext cx="3302000" cy="8890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19" name="Text 16"/>
          <p:cNvSpPr/>
          <p:nvPr/>
        </p:nvSpPr>
        <p:spPr>
          <a:xfrm>
            <a:off x="12192000" y="6477000"/>
            <a:ext cx="3302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Distribution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Tableau de bord Web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2000" y="7747000"/>
            <a:ext cx="14732000" cy="952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PC Xeon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dans la salle de contrôle héberge l'application serveur. Les données sont traitées, persistées dans </a:t>
            </a: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MySQL</a:t>
            </a: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et distribuées en temps réel vers le tableau de bord.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D5D0CB"/>
          </a:solidFill>
        </p:spPr>
      </p:sp>
      <p:sp>
        <p:nvSpPr>
          <p:cNvPr id="22" name="Text 19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  <p:pic>
        <p:nvPicPr>
          <p:cNvPr id="23" name="Imag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435" y="1506220"/>
            <a:ext cx="6009640" cy="34455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09600"/>
            <a:ext cx="50800" cy="4572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3" name="Text 1"/>
          <p:cNvSpPr/>
          <p:nvPr/>
        </p:nvSpPr>
        <p:spPr>
          <a:xfrm>
            <a:off x="965200" y="571500"/>
            <a:ext cx="12700000" cy="533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2D343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Tableau de Bord — Visualisation Temps Réel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14732000" cy="12700"/>
          </a:xfrm>
          <a:prstGeom prst="rect">
            <a:avLst/>
          </a:prstGeom>
          <a:solidFill>
            <a:srgbClr val="D5D0CB"/>
          </a:solidFill>
        </p:spPr>
      </p:sp>
      <p:sp>
        <p:nvSpPr>
          <p:cNvPr id="5" name="Shape 3"/>
          <p:cNvSpPr/>
          <p:nvPr/>
        </p:nvSpPr>
        <p:spPr>
          <a:xfrm>
            <a:off x="762000" y="1587500"/>
            <a:ext cx="3429000" cy="1651000"/>
          </a:xfrm>
          <a:prstGeom prst="rect">
            <a:avLst/>
          </a:prstGeom>
          <a:solidFill>
            <a:srgbClr val="2D3436"/>
          </a:solidFill>
        </p:spPr>
      </p:sp>
      <p:sp>
        <p:nvSpPr>
          <p:cNvPr id="6" name="Text 4"/>
          <p:cNvSpPr/>
          <p:nvPr/>
        </p:nvSpPr>
        <p:spPr>
          <a:xfrm>
            <a:off x="1016000" y="1651000"/>
            <a:ext cx="2921000" cy="825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8794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5400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Machines supervisées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08500" y="1587500"/>
            <a:ext cx="3429000" cy="1651000"/>
          </a:xfrm>
          <a:prstGeom prst="rect">
            <a:avLst/>
          </a:prstGeom>
          <a:solidFill>
            <a:srgbClr val="2D3436"/>
          </a:solidFill>
        </p:spPr>
      </p:sp>
      <p:sp>
        <p:nvSpPr>
          <p:cNvPr id="9" name="Text 7"/>
          <p:cNvSpPr/>
          <p:nvPr/>
        </p:nvSpPr>
        <p:spPr>
          <a:xfrm>
            <a:off x="4762500" y="1651000"/>
            <a:ext cx="2921000" cy="825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8794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62500" y="25400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Ateliers connectés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55000" y="1587500"/>
            <a:ext cx="3429000" cy="1651000"/>
          </a:xfrm>
          <a:prstGeom prst="rect">
            <a:avLst/>
          </a:prstGeom>
          <a:solidFill>
            <a:srgbClr val="2D3436"/>
          </a:solidFill>
        </p:spPr>
      </p:sp>
      <p:sp>
        <p:nvSpPr>
          <p:cNvPr id="12" name="Text 10"/>
          <p:cNvSpPr/>
          <p:nvPr/>
        </p:nvSpPr>
        <p:spPr>
          <a:xfrm>
            <a:off x="8509000" y="1651000"/>
            <a:ext cx="2921000" cy="825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dirty="0">
                <a:solidFill>
                  <a:srgbClr val="C87941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9000" y="2540000"/>
            <a:ext cx="2921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Métriques par machine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001500" y="1587500"/>
            <a:ext cx="3492500" cy="16510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15" name="Shape 13"/>
          <p:cNvSpPr/>
          <p:nvPr/>
        </p:nvSpPr>
        <p:spPr>
          <a:xfrm>
            <a:off x="12287250" y="1778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36153" y="-9823"/>
                </a:moveTo>
                <a:cubicBezTo>
                  <a:pt x="347960" y="-1290"/>
                  <a:pt x="352326" y="14188"/>
                  <a:pt x="346968" y="27682"/>
                </a:cubicBezTo>
                <a:lnTo>
                  <a:pt x="269180" y="222250"/>
                </a:lnTo>
                <a:lnTo>
                  <a:pt x="412750" y="222250"/>
                </a:lnTo>
                <a:cubicBezTo>
                  <a:pt x="426145" y="222250"/>
                  <a:pt x="438051" y="230584"/>
                  <a:pt x="442615" y="243185"/>
                </a:cubicBezTo>
                <a:cubicBezTo>
                  <a:pt x="447179" y="255786"/>
                  <a:pt x="443309" y="269875"/>
                  <a:pt x="433090" y="278408"/>
                </a:cubicBezTo>
                <a:lnTo>
                  <a:pt x="147340" y="516533"/>
                </a:lnTo>
                <a:cubicBezTo>
                  <a:pt x="136128" y="525859"/>
                  <a:pt x="120154" y="526355"/>
                  <a:pt x="108347" y="517823"/>
                </a:cubicBezTo>
                <a:cubicBezTo>
                  <a:pt x="96540" y="509290"/>
                  <a:pt x="92174" y="493812"/>
                  <a:pt x="97532" y="480318"/>
                </a:cubicBezTo>
                <a:lnTo>
                  <a:pt x="175320" y="285750"/>
                </a:lnTo>
                <a:lnTo>
                  <a:pt x="31750" y="285750"/>
                </a:lnTo>
                <a:cubicBezTo>
                  <a:pt x="18355" y="285750"/>
                  <a:pt x="6449" y="277416"/>
                  <a:pt x="1885" y="264815"/>
                </a:cubicBezTo>
                <a:cubicBezTo>
                  <a:pt x="-2679" y="252214"/>
                  <a:pt x="1191" y="238125"/>
                  <a:pt x="11410" y="229592"/>
                </a:cubicBezTo>
                <a:lnTo>
                  <a:pt x="297160" y="-8533"/>
                </a:lnTo>
                <a:cubicBezTo>
                  <a:pt x="308372" y="-17859"/>
                  <a:pt x="324346" y="-18355"/>
                  <a:pt x="336153" y="-9823"/>
                </a:cubicBezTo>
                <a:close/>
              </a:path>
            </a:pathLst>
          </a:cu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12255500" y="2413000"/>
            <a:ext cx="29845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Temps réel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Actualisation continue</a:t>
            </a:r>
            <a:endParaRPr lang="en-US" sz="16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762000" y="3619500"/>
          <a:ext cx="8890000" cy="469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10033000" y="3619500"/>
            <a:ext cx="5461000" cy="4699000"/>
          </a:xfrm>
          <a:prstGeom prst="rect">
            <a:avLst/>
          </a:prstGeom>
          <a:solidFill>
            <a:srgbClr val="F0EDE8"/>
          </a:solidFill>
          <a:ln w="12700">
            <a:solidFill>
              <a:srgbClr val="D5D0C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350500" y="3810000"/>
            <a:ext cx="482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436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Fonctionnalités du Dashboard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350500" y="4381500"/>
            <a:ext cx="4826000" cy="368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8794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■</a:t>
            </a:r>
            <a:r>
              <a:rPr lang="en-US" sz="1600" dirty="0">
                <a:solidFill>
                  <a:srgbClr val="2D34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État des 15 machines en temps réel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C8794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■</a:t>
            </a:r>
            <a:r>
              <a:rPr lang="en-US" sz="1600" dirty="0">
                <a:solidFill>
                  <a:srgbClr val="2D34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Températures &amp; RPM par machine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C8794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■</a:t>
            </a:r>
            <a:r>
              <a:rPr lang="en-US" sz="1600" dirty="0">
                <a:solidFill>
                  <a:srgbClr val="2D34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Taux de production global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C8794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■</a:t>
            </a:r>
            <a:r>
              <a:rPr lang="en-US" sz="1600" dirty="0">
                <a:solidFill>
                  <a:srgbClr val="2D34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Alertes seuils dépassés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C8794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■</a:t>
            </a:r>
            <a:r>
              <a:rPr lang="en-US" sz="1600" dirty="0">
                <a:solidFill>
                  <a:srgbClr val="2D34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Historique et tendances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C87941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■</a:t>
            </a:r>
            <a:r>
              <a:rPr lang="en-US" sz="1600" dirty="0">
                <a:solidFill>
                  <a:srgbClr val="2D3436"/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 Filtrage par atelier / machine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D5D0CB"/>
          </a:solidFill>
        </p:spPr>
      </p:sp>
      <p:sp>
        <p:nvSpPr>
          <p:cNvPr id="22" name="Text 19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0500" y="2794000"/>
            <a:ext cx="635000" cy="508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3" name="Text 1"/>
          <p:cNvSpPr/>
          <p:nvPr/>
        </p:nvSpPr>
        <p:spPr>
          <a:xfrm>
            <a:off x="3048000" y="3098800"/>
            <a:ext cx="10160000" cy="889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kern="0" spc="200" dirty="0">
                <a:solidFill>
                  <a:srgbClr val="FFFFFF"/>
                </a:solidFill>
                <a:latin typeface="Liter" panose="02000503030000020004" pitchFamily="34" charset="0"/>
                <a:ea typeface="Liter" panose="02000503030000020004" pitchFamily="34" charset="-122"/>
                <a:cs typeface="Liter" panose="02000503030000020004" pitchFamily="34" charset="-120"/>
              </a:rPr>
              <a:t>bAcTechFlow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3048000" y="4191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Architecture IoT Industrielle Complète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413000" y="5080000"/>
            <a:ext cx="11430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De la machine industrielle au tableau de bord, en passant par le Gateway Edge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60000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intelligent avec fallback local. Zéro perte de données. Supervision temps réel mondiale.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6731000"/>
            <a:ext cx="2540000" cy="25400"/>
          </a:xfrm>
          <a:prstGeom prst="rect">
            <a:avLst/>
          </a:prstGeom>
          <a:solidFill>
            <a:srgbClr val="C87941"/>
          </a:solidFill>
        </p:spPr>
      </p:sp>
      <p:sp>
        <p:nvSpPr>
          <p:cNvPr id="7" name="Text 5"/>
          <p:cNvSpPr/>
          <p:nvPr/>
        </p:nvSpPr>
        <p:spPr>
          <a:xfrm>
            <a:off x="4318000" y="7112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37647"/>
                  </a:srgbClr>
                </a:solidFill>
                <a:latin typeface="Quattrocento Sans" panose="020B0502050000020003" pitchFamily="34" charset="0"/>
                <a:ea typeface="Quattrocento Sans" panose="020B0502050000020003" pitchFamily="34" charset="-122"/>
                <a:cs typeface="Quattrocento Sans" panose="020B0502050000020003" pitchFamily="34" charset="-120"/>
              </a:rPr>
              <a:t>Machines  •  Gateway Edge  •  Serveur Xeon  •  Dashboard Web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4980</Words>
  <Application>WPS Presentation</Application>
  <PresentationFormat>On-screen Show (16:9)</PresentationFormat>
  <Paragraphs>280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3" baseType="lpstr">
      <vt:lpstr>Arial</vt:lpstr>
      <vt:lpstr>SimSun</vt:lpstr>
      <vt:lpstr>Wingdings</vt:lpstr>
      <vt:lpstr>Liter</vt:lpstr>
      <vt:lpstr>Liter</vt:lpstr>
      <vt:lpstr>Liter</vt:lpstr>
      <vt:lpstr>QuattrocentoSans</vt:lpstr>
      <vt:lpstr>Courant</vt:lpstr>
      <vt:lpstr>QuattrocentoSans</vt:lpstr>
      <vt:lpstr>QuattrocentoSans</vt:lpstr>
      <vt:lpstr>Quattrocento Sans</vt:lpstr>
      <vt:lpstr>Quattrocento Sans</vt:lpstr>
      <vt:lpstr>Quattrocento Sans</vt:lpstr>
      <vt:lpstr>Arial</vt:lpstr>
      <vt:lpstr>Calibri</vt:lpstr>
      <vt:lpstr>Microsoft YaHei</vt:lpstr>
      <vt:lpstr>Arial Unicode MS</vt:lpstr>
      <vt:lpstr>MingLiU-ExtB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bAcTechFlow - Système IoT Industriel Multinational</dc:title>
  <dc:creator>Kimi</dc:creator>
  <dc:subject>bAcTechFlow - Système IoT Industriel Multinational</dc:subject>
  <cp:lastModifiedBy>ben ayech chebil</cp:lastModifiedBy>
  <cp:revision>2</cp:revision>
  <dcterms:created xsi:type="dcterms:W3CDTF">2026-06-07T20:51:00Z</dcterms:created>
  <dcterms:modified xsi:type="dcterms:W3CDTF">2026-06-07T21:00:26Z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{"Label":"bAcTechFlow - Système IoT Industriel Multinational","ContentProducer":"001191110108MACG2KBH8F10000","ProduceID":"19ea3d95-06b2-8803-8000-00008bb4acf3","ReservedCode1":"","ContentPropagator":"001191110108MACG2KBH8F20000","PropagateID":"19ea3d95-06b2-8803-8000-00008bb4acf3","ReservedCode2":""}</vt:lpwstr>
  </property>
  <property fmtid="{D5CDD505-2E9C-101B-9397-08002B2CF9AE}" pid="3" name="ICV">
    <vt:lpwstr>FACF4A33111648E090CBA47B707516DA_12</vt:lpwstr>
  </property>
  <property fmtid="{D5CDD505-2E9C-101B-9397-08002B2CF9AE}" pid="4" name="KSOProductBuildVer">
    <vt:lpwstr>1036-12.1.0.26372</vt:lpwstr>
  </property>
</Properties>
</file>